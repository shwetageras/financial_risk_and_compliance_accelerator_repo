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29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8" r:id="rId22"/>
    <p:sldId id="279" r:id="rId23"/>
    <p:sldId id="293" r:id="rId24"/>
    <p:sldId id="298" r:id="rId25"/>
    <p:sldId id="282" r:id="rId26"/>
    <p:sldId id="294" r:id="rId27"/>
    <p:sldId id="280" r:id="rId28"/>
    <p:sldId id="295" r:id="rId29"/>
    <p:sldId id="296" r:id="rId30"/>
    <p:sldId id="284" r:id="rId31"/>
    <p:sldId id="285" r:id="rId32"/>
    <p:sldId id="297" r:id="rId33"/>
    <p:sldId id="299" r:id="rId34"/>
    <p:sldId id="300" r:id="rId35"/>
    <p:sldId id="301" r:id="rId36"/>
    <p:sldId id="290" r:id="rId37"/>
    <p:sldId id="289" r:id="rId38"/>
  </p:sldIdLst>
  <p:sldSz cx="12192000" cy="6858000"/>
  <p:notesSz cx="6858000" cy="9144000"/>
  <p:embeddedFontLs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Poppins" panose="000005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740CE-60EE-41C6-AC6F-53143F40BA72}" v="78" dt="2025-11-11T08:34:11.741"/>
  </p1510:revLst>
</p1510:revInfo>
</file>

<file path=ppt/tableStyles.xml><?xml version="1.0" encoding="utf-8"?>
<a:tblStyleLst xmlns:a="http://schemas.openxmlformats.org/drawingml/2006/main" def="{5948F9F4-F3FB-46A4-B4CE-6BB6C7C7DBDF}">
  <a:tblStyle styleId="{5948F9F4-F3FB-46A4-B4CE-6BB6C7C7DB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weta Gera" userId="e870a5615c5e3aee" providerId="LiveId" clId="{C0F81BF3-1FF5-475B-8922-2F79A4B854B0}"/>
    <pc:docChg chg="undo redo custSel addSld delSld modSld sldOrd">
      <pc:chgData name="Shweta Gera" userId="e870a5615c5e3aee" providerId="LiveId" clId="{C0F81BF3-1FF5-475B-8922-2F79A4B854B0}" dt="2025-11-11T09:06:02.783" v="1421" actId="14100"/>
      <pc:docMkLst>
        <pc:docMk/>
      </pc:docMkLst>
      <pc:sldChg chg="modSp mod">
        <pc:chgData name="Shweta Gera" userId="e870a5615c5e3aee" providerId="LiveId" clId="{C0F81BF3-1FF5-475B-8922-2F79A4B854B0}" dt="2025-11-01T07:03:02.766" v="695" actId="20577"/>
        <pc:sldMkLst>
          <pc:docMk/>
          <pc:sldMk cId="0" sldId="259"/>
        </pc:sldMkLst>
        <pc:spChg chg="mod">
          <ac:chgData name="Shweta Gera" userId="e870a5615c5e3aee" providerId="LiveId" clId="{C0F81BF3-1FF5-475B-8922-2F79A4B854B0}" dt="2025-11-01T07:03:02.766" v="695" actId="20577"/>
          <ac:spMkLst>
            <pc:docMk/>
            <pc:sldMk cId="0" sldId="259"/>
            <ac:spMk id="124" creationId="{00000000-0000-0000-0000-000000000000}"/>
          </ac:spMkLst>
        </pc:spChg>
      </pc:sldChg>
      <pc:sldChg chg="modSp mod">
        <pc:chgData name="Shweta Gera" userId="e870a5615c5e3aee" providerId="LiveId" clId="{C0F81BF3-1FF5-475B-8922-2F79A4B854B0}" dt="2025-11-01T07:03:09.790" v="701" actId="20577"/>
        <pc:sldMkLst>
          <pc:docMk/>
          <pc:sldMk cId="0" sldId="260"/>
        </pc:sldMkLst>
        <pc:spChg chg="mod">
          <ac:chgData name="Shweta Gera" userId="e870a5615c5e3aee" providerId="LiveId" clId="{C0F81BF3-1FF5-475B-8922-2F79A4B854B0}" dt="2025-11-01T07:03:09.790" v="701" actId="20577"/>
          <ac:spMkLst>
            <pc:docMk/>
            <pc:sldMk cId="0" sldId="260"/>
            <ac:spMk id="131" creationId="{00000000-0000-0000-0000-000000000000}"/>
          </ac:spMkLst>
        </pc:spChg>
      </pc:sldChg>
      <pc:sldChg chg="addSp delSp modSp mod">
        <pc:chgData name="Shweta Gera" userId="e870a5615c5e3aee" providerId="LiveId" clId="{C0F81BF3-1FF5-475B-8922-2F79A4B854B0}" dt="2025-11-01T07:03:46.212" v="705" actId="11529"/>
        <pc:sldMkLst>
          <pc:docMk/>
          <pc:sldMk cId="0" sldId="270"/>
        </pc:sldMkLst>
      </pc:sldChg>
      <pc:sldChg chg="ord">
        <pc:chgData name="Shweta Gera" userId="e870a5615c5e3aee" providerId="LiveId" clId="{C0F81BF3-1FF5-475B-8922-2F79A4B854B0}" dt="2025-10-31T09:38:45.945" v="106"/>
        <pc:sldMkLst>
          <pc:docMk/>
          <pc:sldMk cId="0" sldId="280"/>
        </pc:sldMkLst>
      </pc:sldChg>
      <pc:sldChg chg="addSp delSp modSp mod">
        <pc:chgData name="Shweta Gera" userId="e870a5615c5e3aee" providerId="LiveId" clId="{C0F81BF3-1FF5-475B-8922-2F79A4B854B0}" dt="2025-11-01T08:37:50.089" v="1061" actId="114"/>
        <pc:sldMkLst>
          <pc:docMk/>
          <pc:sldMk cId="0" sldId="282"/>
        </pc:sldMkLst>
        <pc:spChg chg="mod">
          <ac:chgData name="Shweta Gera" userId="e870a5615c5e3aee" providerId="LiveId" clId="{C0F81BF3-1FF5-475B-8922-2F79A4B854B0}" dt="2025-10-31T09:24:11.475" v="55" actId="1076"/>
          <ac:spMkLst>
            <pc:docMk/>
            <pc:sldMk cId="0" sldId="282"/>
            <ac:spMk id="427" creationId="{00000000-0000-0000-0000-000000000000}"/>
          </ac:spMkLst>
        </pc:spChg>
        <pc:spChg chg="mod">
          <ac:chgData name="Shweta Gera" userId="e870a5615c5e3aee" providerId="LiveId" clId="{C0F81BF3-1FF5-475B-8922-2F79A4B854B0}" dt="2025-10-31T09:25:35.592" v="67" actId="1076"/>
          <ac:spMkLst>
            <pc:docMk/>
            <pc:sldMk cId="0" sldId="282"/>
            <ac:spMk id="428" creationId="{00000000-0000-0000-0000-000000000000}"/>
          </ac:spMkLst>
        </pc:spChg>
        <pc:spChg chg="mod">
          <ac:chgData name="Shweta Gera" userId="e870a5615c5e3aee" providerId="LiveId" clId="{C0F81BF3-1FF5-475B-8922-2F79A4B854B0}" dt="2025-11-01T08:30:43.353" v="1009" actId="404"/>
          <ac:spMkLst>
            <pc:docMk/>
            <pc:sldMk cId="0" sldId="282"/>
            <ac:spMk id="430" creationId="{00000000-0000-0000-0000-000000000000}"/>
          </ac:spMkLst>
        </pc:spChg>
        <pc:spChg chg="mod">
          <ac:chgData name="Shweta Gera" userId="e870a5615c5e3aee" providerId="LiveId" clId="{C0F81BF3-1FF5-475B-8922-2F79A4B854B0}" dt="2025-10-31T09:27:31.184" v="91" actId="14100"/>
          <ac:spMkLst>
            <pc:docMk/>
            <pc:sldMk cId="0" sldId="282"/>
            <ac:spMk id="431" creationId="{00000000-0000-0000-0000-000000000000}"/>
          </ac:spMkLst>
        </pc:spChg>
        <pc:spChg chg="mod">
          <ac:chgData name="Shweta Gera" userId="e870a5615c5e3aee" providerId="LiveId" clId="{C0F81BF3-1FF5-475B-8922-2F79A4B854B0}" dt="2025-11-01T08:36:25.714" v="1029" actId="20577"/>
          <ac:spMkLst>
            <pc:docMk/>
            <pc:sldMk cId="0" sldId="282"/>
            <ac:spMk id="433" creationId="{00000000-0000-0000-0000-000000000000}"/>
          </ac:spMkLst>
        </pc:spChg>
        <pc:spChg chg="mod">
          <ac:chgData name="Shweta Gera" userId="e870a5615c5e3aee" providerId="LiveId" clId="{C0F81BF3-1FF5-475B-8922-2F79A4B854B0}" dt="2025-11-01T08:37:50.089" v="1061" actId="114"/>
          <ac:spMkLst>
            <pc:docMk/>
            <pc:sldMk cId="0" sldId="282"/>
            <ac:spMk id="434" creationId="{00000000-0000-0000-0000-000000000000}"/>
          </ac:spMkLst>
        </pc:spChg>
        <pc:picChg chg="mod">
          <ac:chgData name="Shweta Gera" userId="e870a5615c5e3aee" providerId="LiveId" clId="{C0F81BF3-1FF5-475B-8922-2F79A4B854B0}" dt="2025-10-31T09:26:28.191" v="79" actId="1076"/>
          <ac:picMkLst>
            <pc:docMk/>
            <pc:sldMk cId="0" sldId="282"/>
            <ac:picMk id="421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9:27:04.136" v="86" actId="1076"/>
          <ac:picMkLst>
            <pc:docMk/>
            <pc:sldMk cId="0" sldId="282"/>
            <ac:picMk id="426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9:27:33.911" v="92" actId="1076"/>
          <ac:picMkLst>
            <pc:docMk/>
            <pc:sldMk cId="0" sldId="282"/>
            <ac:picMk id="429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9:27:43.331" v="95" actId="1076"/>
          <ac:picMkLst>
            <pc:docMk/>
            <pc:sldMk cId="0" sldId="282"/>
            <ac:picMk id="432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9:27:11.809" v="88" actId="1076"/>
          <ac:picMkLst>
            <pc:docMk/>
            <pc:sldMk cId="0" sldId="282"/>
            <ac:picMk id="435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9:27:36.384" v="93" actId="1076"/>
          <ac:picMkLst>
            <pc:docMk/>
            <pc:sldMk cId="0" sldId="282"/>
            <ac:picMk id="436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9:27:45.582" v="96" actId="1076"/>
          <ac:picMkLst>
            <pc:docMk/>
            <pc:sldMk cId="0" sldId="282"/>
            <ac:picMk id="437" creationId="{00000000-0000-0000-0000-000000000000}"/>
          </ac:picMkLst>
        </pc:picChg>
        <pc:picChg chg="add mod">
          <ac:chgData name="Shweta Gera" userId="e870a5615c5e3aee" providerId="LiveId" clId="{C0F81BF3-1FF5-475B-8922-2F79A4B854B0}" dt="2025-10-31T09:30:30.790" v="104" actId="14100"/>
          <ac:picMkLst>
            <pc:docMk/>
            <pc:sldMk cId="0" sldId="282"/>
            <ac:picMk id="5124" creationId="{BF86BB50-3AC4-96F7-EA2C-2BE4CCFE99EB}"/>
          </ac:picMkLst>
        </pc:picChg>
      </pc:sldChg>
      <pc:sldChg chg="modSp mod">
        <pc:chgData name="Shweta Gera" userId="e870a5615c5e3aee" providerId="LiveId" clId="{C0F81BF3-1FF5-475B-8922-2F79A4B854B0}" dt="2025-10-31T08:46:25.659" v="45" actId="21"/>
        <pc:sldMkLst>
          <pc:docMk/>
          <pc:sldMk cId="0" sldId="285"/>
        </pc:sldMkLst>
        <pc:spChg chg="mod">
          <ac:chgData name="Shweta Gera" userId="e870a5615c5e3aee" providerId="LiveId" clId="{C0F81BF3-1FF5-475B-8922-2F79A4B854B0}" dt="2025-10-31T08:40:59.803" v="31" actId="1076"/>
          <ac:spMkLst>
            <pc:docMk/>
            <pc:sldMk cId="0" sldId="285"/>
            <ac:spMk id="480" creationId="{00000000-0000-0000-0000-000000000000}"/>
          </ac:spMkLst>
        </pc:spChg>
        <pc:spChg chg="mod">
          <ac:chgData name="Shweta Gera" userId="e870a5615c5e3aee" providerId="LiveId" clId="{C0F81BF3-1FF5-475B-8922-2F79A4B854B0}" dt="2025-10-31T08:46:25.659" v="45" actId="21"/>
          <ac:spMkLst>
            <pc:docMk/>
            <pc:sldMk cId="0" sldId="285"/>
            <ac:spMk id="481" creationId="{00000000-0000-0000-0000-000000000000}"/>
          </ac:spMkLst>
        </pc:spChg>
        <pc:spChg chg="mod">
          <ac:chgData name="Shweta Gera" userId="e870a5615c5e3aee" providerId="LiveId" clId="{C0F81BF3-1FF5-475B-8922-2F79A4B854B0}" dt="2025-10-31T08:39:25.596" v="3" actId="207"/>
          <ac:spMkLst>
            <pc:docMk/>
            <pc:sldMk cId="0" sldId="285"/>
            <ac:spMk id="484" creationId="{00000000-0000-0000-0000-000000000000}"/>
          </ac:spMkLst>
        </pc:spChg>
        <pc:spChg chg="mod">
          <ac:chgData name="Shweta Gera" userId="e870a5615c5e3aee" providerId="LiveId" clId="{C0F81BF3-1FF5-475B-8922-2F79A4B854B0}" dt="2025-10-31T08:40:05.964" v="12" actId="114"/>
          <ac:spMkLst>
            <pc:docMk/>
            <pc:sldMk cId="0" sldId="285"/>
            <ac:spMk id="487" creationId="{00000000-0000-0000-0000-000000000000}"/>
          </ac:spMkLst>
        </pc:spChg>
        <pc:spChg chg="mod">
          <ac:chgData name="Shweta Gera" userId="e870a5615c5e3aee" providerId="LiveId" clId="{C0F81BF3-1FF5-475B-8922-2F79A4B854B0}" dt="2025-10-31T08:41:06.512" v="33" actId="114"/>
          <ac:spMkLst>
            <pc:docMk/>
            <pc:sldMk cId="0" sldId="285"/>
            <ac:spMk id="490" creationId="{00000000-0000-0000-0000-000000000000}"/>
          </ac:spMkLst>
        </pc:spChg>
        <pc:picChg chg="mod">
          <ac:chgData name="Shweta Gera" userId="e870a5615c5e3aee" providerId="LiveId" clId="{C0F81BF3-1FF5-475B-8922-2F79A4B854B0}" dt="2025-10-31T08:41:14.541" v="35" actId="1076"/>
          <ac:picMkLst>
            <pc:docMk/>
            <pc:sldMk cId="0" sldId="285"/>
            <ac:picMk id="477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8:40:47.972" v="26" actId="1076"/>
          <ac:picMkLst>
            <pc:docMk/>
            <pc:sldMk cId="0" sldId="285"/>
            <ac:picMk id="478" creationId="{00000000-0000-0000-0000-000000000000}"/>
          </ac:picMkLst>
        </pc:picChg>
        <pc:picChg chg="mod">
          <ac:chgData name="Shweta Gera" userId="e870a5615c5e3aee" providerId="LiveId" clId="{C0F81BF3-1FF5-475B-8922-2F79A4B854B0}" dt="2025-10-31T08:40:47.510" v="25" actId="1076"/>
          <ac:picMkLst>
            <pc:docMk/>
            <pc:sldMk cId="0" sldId="285"/>
            <ac:picMk id="479" creationId="{00000000-0000-0000-0000-000000000000}"/>
          </ac:picMkLst>
        </pc:picChg>
      </pc:sldChg>
      <pc:sldChg chg="delSp modSp mod">
        <pc:chgData name="Shweta Gera" userId="e870a5615c5e3aee" providerId="LiveId" clId="{C0F81BF3-1FF5-475B-8922-2F79A4B854B0}" dt="2025-11-01T07:01:39.936" v="679" actId="14100"/>
        <pc:sldMkLst>
          <pc:docMk/>
          <pc:sldMk cId="4044678655" sldId="293"/>
        </pc:sldMkLst>
        <pc:spChg chg="mod">
          <ac:chgData name="Shweta Gera" userId="e870a5615c5e3aee" providerId="LiveId" clId="{C0F81BF3-1FF5-475B-8922-2F79A4B854B0}" dt="2025-11-01T07:01:28.379" v="677" actId="1076"/>
          <ac:spMkLst>
            <pc:docMk/>
            <pc:sldMk cId="4044678655" sldId="293"/>
            <ac:spMk id="8" creationId="{12DC4570-2A1C-AEE7-5FD1-0D76798076C1}"/>
          </ac:spMkLst>
        </pc:spChg>
        <pc:spChg chg="mod">
          <ac:chgData name="Shweta Gera" userId="e870a5615c5e3aee" providerId="LiveId" clId="{C0F81BF3-1FF5-475B-8922-2F79A4B854B0}" dt="2025-11-01T07:01:06.169" v="674" actId="114"/>
          <ac:spMkLst>
            <pc:docMk/>
            <pc:sldMk cId="4044678655" sldId="293"/>
            <ac:spMk id="10" creationId="{B2B1B5C1-0735-EB72-54F5-256A5EA1DB91}"/>
          </ac:spMkLst>
        </pc:spChg>
        <pc:spChg chg="mod">
          <ac:chgData name="Shweta Gera" userId="e870a5615c5e3aee" providerId="LiveId" clId="{C0F81BF3-1FF5-475B-8922-2F79A4B854B0}" dt="2025-11-01T06:53:35.239" v="520" actId="1076"/>
          <ac:spMkLst>
            <pc:docMk/>
            <pc:sldMk cId="4044678655" sldId="293"/>
            <ac:spMk id="396" creationId="{DE872296-4FA8-D6AB-E030-249C9B767EFB}"/>
          </ac:spMkLst>
        </pc:spChg>
        <pc:spChg chg="mod">
          <ac:chgData name="Shweta Gera" userId="e870a5615c5e3aee" providerId="LiveId" clId="{C0F81BF3-1FF5-475B-8922-2F79A4B854B0}" dt="2025-11-01T07:01:24.476" v="676" actId="1076"/>
          <ac:spMkLst>
            <pc:docMk/>
            <pc:sldMk cId="4044678655" sldId="293"/>
            <ac:spMk id="398" creationId="{6F4A6198-5CB7-7683-3AB2-5307F0D3ED47}"/>
          </ac:spMkLst>
        </pc:spChg>
        <pc:spChg chg="mod">
          <ac:chgData name="Shweta Gera" userId="e870a5615c5e3aee" providerId="LiveId" clId="{C0F81BF3-1FF5-475B-8922-2F79A4B854B0}" dt="2025-11-01T06:58:38.359" v="643" actId="404"/>
          <ac:spMkLst>
            <pc:docMk/>
            <pc:sldMk cId="4044678655" sldId="293"/>
            <ac:spMk id="400" creationId="{32929658-2A40-4C53-DCB3-0442C7307024}"/>
          </ac:spMkLst>
        </pc:spChg>
        <pc:picChg chg="mod">
          <ac:chgData name="Shweta Gera" userId="e870a5615c5e3aee" providerId="LiveId" clId="{C0F81BF3-1FF5-475B-8922-2F79A4B854B0}" dt="2025-11-01T07:01:18.600" v="675" actId="1076"/>
          <ac:picMkLst>
            <pc:docMk/>
            <pc:sldMk cId="4044678655" sldId="293"/>
            <ac:picMk id="393" creationId="{885C78D0-BC02-AE40-FFEA-300CAC39B60F}"/>
          </ac:picMkLst>
        </pc:picChg>
        <pc:picChg chg="mod">
          <ac:chgData name="Shweta Gera" userId="e870a5615c5e3aee" providerId="LiveId" clId="{C0F81BF3-1FF5-475B-8922-2F79A4B854B0}" dt="2025-11-01T07:01:39.936" v="679" actId="14100"/>
          <ac:picMkLst>
            <pc:docMk/>
            <pc:sldMk cId="4044678655" sldId="293"/>
            <ac:picMk id="394" creationId="{2D771D9F-FEAC-9F3D-451B-737C5692AB08}"/>
          </ac:picMkLst>
        </pc:picChg>
      </pc:sldChg>
      <pc:sldChg chg="ord">
        <pc:chgData name="Shweta Gera" userId="e870a5615c5e3aee" providerId="LiveId" clId="{C0F81BF3-1FF5-475B-8922-2F79A4B854B0}" dt="2025-10-31T09:39:34.568" v="108"/>
        <pc:sldMkLst>
          <pc:docMk/>
          <pc:sldMk cId="3883780766" sldId="294"/>
        </pc:sldMkLst>
      </pc:sldChg>
      <pc:sldChg chg="addSp delSp modSp new mod">
        <pc:chgData name="Shweta Gera" userId="e870a5615c5e3aee" providerId="LiveId" clId="{C0F81BF3-1FF5-475B-8922-2F79A4B854B0}" dt="2025-10-31T10:43:39.413" v="506" actId="404"/>
        <pc:sldMkLst>
          <pc:docMk/>
          <pc:sldMk cId="2541736410" sldId="295"/>
        </pc:sldMkLst>
        <pc:spChg chg="add mod">
          <ac:chgData name="Shweta Gera" userId="e870a5615c5e3aee" providerId="LiveId" clId="{C0F81BF3-1FF5-475B-8922-2F79A4B854B0}" dt="2025-10-31T10:43:39.413" v="506" actId="404"/>
          <ac:spMkLst>
            <pc:docMk/>
            <pc:sldMk cId="2541736410" sldId="295"/>
            <ac:spMk id="6" creationId="{20F13E2A-60D7-50FF-2D6A-8E31FD4D9472}"/>
          </ac:spMkLst>
        </pc:spChg>
        <pc:graphicFrameChg chg="add mod modGraphic">
          <ac:chgData name="Shweta Gera" userId="e870a5615c5e3aee" providerId="LiveId" clId="{C0F81BF3-1FF5-475B-8922-2F79A4B854B0}" dt="2025-10-31T10:39:05.291" v="483" actId="14100"/>
          <ac:graphicFrameMkLst>
            <pc:docMk/>
            <pc:sldMk cId="2541736410" sldId="295"/>
            <ac:graphicFrameMk id="4" creationId="{67CE19E0-5209-9CBA-F484-1A0401285BCF}"/>
          </ac:graphicFrameMkLst>
        </pc:graphicFrameChg>
      </pc:sldChg>
      <pc:sldChg chg="addSp delSp modSp add mod">
        <pc:chgData name="Shweta Gera" userId="e870a5615c5e3aee" providerId="LiveId" clId="{C0F81BF3-1FF5-475B-8922-2F79A4B854B0}" dt="2025-11-01T08:43:57.170" v="1064" actId="20577"/>
        <pc:sldMkLst>
          <pc:docMk/>
          <pc:sldMk cId="3112472497" sldId="296"/>
        </pc:sldMkLst>
        <pc:spChg chg="add mod">
          <ac:chgData name="Shweta Gera" userId="e870a5615c5e3aee" providerId="LiveId" clId="{C0F81BF3-1FF5-475B-8922-2F79A4B854B0}" dt="2025-10-31T10:43:24.695" v="504"/>
          <ac:spMkLst>
            <pc:docMk/>
            <pc:sldMk cId="3112472497" sldId="296"/>
            <ac:spMk id="5" creationId="{22C7BF62-B0C7-2F41-25D6-1DE55D0641AB}"/>
          </ac:spMkLst>
        </pc:spChg>
        <pc:spChg chg="mod">
          <ac:chgData name="Shweta Gera" userId="e870a5615c5e3aee" providerId="LiveId" clId="{C0F81BF3-1FF5-475B-8922-2F79A4B854B0}" dt="2025-10-31T10:42:47.542" v="498" actId="404"/>
          <ac:spMkLst>
            <pc:docMk/>
            <pc:sldMk cId="3112472497" sldId="296"/>
            <ac:spMk id="6" creationId="{3070FA97-BE01-DAD7-6801-91FB71E37951}"/>
          </ac:spMkLst>
        </pc:spChg>
        <pc:graphicFrameChg chg="mod modGraphic">
          <ac:chgData name="Shweta Gera" userId="e870a5615c5e3aee" providerId="LiveId" clId="{C0F81BF3-1FF5-475B-8922-2F79A4B854B0}" dt="2025-11-01T08:43:57.170" v="1064" actId="20577"/>
          <ac:graphicFrameMkLst>
            <pc:docMk/>
            <pc:sldMk cId="3112472497" sldId="296"/>
            <ac:graphicFrameMk id="4" creationId="{37F4FB8C-7B51-C8E0-F709-214F4BF3D9EC}"/>
          </ac:graphicFrameMkLst>
        </pc:graphicFrameChg>
      </pc:sldChg>
      <pc:sldChg chg="addSp delSp add mod">
        <pc:chgData name="Shweta Gera" userId="e870a5615c5e3aee" providerId="LiveId" clId="{C0F81BF3-1FF5-475B-8922-2F79A4B854B0}" dt="2025-10-31T17:15:10.546" v="511" actId="22"/>
        <pc:sldMkLst>
          <pc:docMk/>
          <pc:sldMk cId="1816342566" sldId="297"/>
        </pc:sldMkLst>
        <pc:picChg chg="add">
          <ac:chgData name="Shweta Gera" userId="e870a5615c5e3aee" providerId="LiveId" clId="{C0F81BF3-1FF5-475B-8922-2F79A4B854B0}" dt="2025-10-31T17:15:10.546" v="511" actId="22"/>
          <ac:picMkLst>
            <pc:docMk/>
            <pc:sldMk cId="1816342566" sldId="297"/>
            <ac:picMk id="3" creationId="{EDF21E06-AE14-8E95-E4A9-CD8E4DEF255F}"/>
          </ac:picMkLst>
        </pc:picChg>
      </pc:sldChg>
      <pc:sldChg chg="modSp add mod">
        <pc:chgData name="Shweta Gera" userId="e870a5615c5e3aee" providerId="LiveId" clId="{C0F81BF3-1FF5-475B-8922-2F79A4B854B0}" dt="2025-11-01T08:04:58.643" v="981" actId="14100"/>
        <pc:sldMkLst>
          <pc:docMk/>
          <pc:sldMk cId="3410182930" sldId="298"/>
        </pc:sldMkLst>
        <pc:spChg chg="mod">
          <ac:chgData name="Shweta Gera" userId="e870a5615c5e3aee" providerId="LiveId" clId="{C0F81BF3-1FF5-475B-8922-2F79A4B854B0}" dt="2025-11-01T07:17:49.613" v="716" actId="1076"/>
          <ac:spMkLst>
            <pc:docMk/>
            <pc:sldMk cId="3410182930" sldId="298"/>
            <ac:spMk id="2" creationId="{6A3449F4-93AB-4B8B-6BF6-917C9562A431}"/>
          </ac:spMkLst>
        </pc:spChg>
        <pc:spChg chg="mod">
          <ac:chgData name="Shweta Gera" userId="e870a5615c5e3aee" providerId="LiveId" clId="{C0F81BF3-1FF5-475B-8922-2F79A4B854B0}" dt="2025-11-01T08:00:36.461" v="912" actId="120"/>
          <ac:spMkLst>
            <pc:docMk/>
            <pc:sldMk cId="3410182930" sldId="298"/>
            <ac:spMk id="4" creationId="{3C414165-8CE5-16D0-DF7F-316D5DAE9DCC}"/>
          </ac:spMkLst>
        </pc:spChg>
        <pc:spChg chg="mod">
          <ac:chgData name="Shweta Gera" userId="e870a5615c5e3aee" providerId="LiveId" clId="{C0F81BF3-1FF5-475B-8922-2F79A4B854B0}" dt="2025-11-01T08:02:51.808" v="948" actId="120"/>
          <ac:spMkLst>
            <pc:docMk/>
            <pc:sldMk cId="3410182930" sldId="298"/>
            <ac:spMk id="5" creationId="{BE352C90-699E-3714-EA1E-8B12C063F262}"/>
          </ac:spMkLst>
        </pc:spChg>
        <pc:spChg chg="mod">
          <ac:chgData name="Shweta Gera" userId="e870a5615c5e3aee" providerId="LiveId" clId="{C0F81BF3-1FF5-475B-8922-2F79A4B854B0}" dt="2025-11-01T07:31:16.019" v="847" actId="20577"/>
          <ac:spMkLst>
            <pc:docMk/>
            <pc:sldMk cId="3410182930" sldId="298"/>
            <ac:spMk id="8" creationId="{3D720806-B95C-8EE1-7E9D-3B999CEACA0C}"/>
          </ac:spMkLst>
        </pc:spChg>
        <pc:spChg chg="mod">
          <ac:chgData name="Shweta Gera" userId="e870a5615c5e3aee" providerId="LiveId" clId="{C0F81BF3-1FF5-475B-8922-2F79A4B854B0}" dt="2025-11-01T08:02:17.216" v="932" actId="20577"/>
          <ac:spMkLst>
            <pc:docMk/>
            <pc:sldMk cId="3410182930" sldId="298"/>
            <ac:spMk id="10" creationId="{168A9372-C48E-D3EE-DBB6-9A49525E9653}"/>
          </ac:spMkLst>
        </pc:spChg>
        <pc:spChg chg="mod">
          <ac:chgData name="Shweta Gera" userId="e870a5615c5e3aee" providerId="LiveId" clId="{C0F81BF3-1FF5-475B-8922-2F79A4B854B0}" dt="2025-11-01T08:04:58.643" v="981" actId="14100"/>
          <ac:spMkLst>
            <pc:docMk/>
            <pc:sldMk cId="3410182930" sldId="298"/>
            <ac:spMk id="11" creationId="{B75E86EE-A50B-6500-EA6C-B2D78B70229C}"/>
          </ac:spMkLst>
        </pc:spChg>
        <pc:spChg chg="mod">
          <ac:chgData name="Shweta Gera" userId="e870a5615c5e3aee" providerId="LiveId" clId="{C0F81BF3-1FF5-475B-8922-2F79A4B854B0}" dt="2025-11-01T07:21:34.965" v="795" actId="1076"/>
          <ac:spMkLst>
            <pc:docMk/>
            <pc:sldMk cId="3410182930" sldId="298"/>
            <ac:spMk id="14" creationId="{0A1121A9-5CC0-9160-1E13-52D8324252E3}"/>
          </ac:spMkLst>
        </pc:spChg>
        <pc:spChg chg="mod">
          <ac:chgData name="Shweta Gera" userId="e870a5615c5e3aee" providerId="LiveId" clId="{C0F81BF3-1FF5-475B-8922-2F79A4B854B0}" dt="2025-11-01T07:17:12.861" v="709" actId="1076"/>
          <ac:spMkLst>
            <pc:docMk/>
            <pc:sldMk cId="3410182930" sldId="298"/>
            <ac:spMk id="396" creationId="{A633D1CB-0020-5581-80BB-CFE180BBFE81}"/>
          </ac:spMkLst>
        </pc:spChg>
        <pc:spChg chg="mod">
          <ac:chgData name="Shweta Gera" userId="e870a5615c5e3aee" providerId="LiveId" clId="{C0F81BF3-1FF5-475B-8922-2F79A4B854B0}" dt="2025-11-01T07:17:44.639" v="715" actId="1076"/>
          <ac:spMkLst>
            <pc:docMk/>
            <pc:sldMk cId="3410182930" sldId="298"/>
            <ac:spMk id="398" creationId="{798AA9FB-D3EA-BDF3-B38E-C023F3D54619}"/>
          </ac:spMkLst>
        </pc:spChg>
        <pc:spChg chg="mod">
          <ac:chgData name="Shweta Gera" userId="e870a5615c5e3aee" providerId="LiveId" clId="{C0F81BF3-1FF5-475B-8922-2F79A4B854B0}" dt="2025-11-01T07:20:32.485" v="789" actId="1076"/>
          <ac:spMkLst>
            <pc:docMk/>
            <pc:sldMk cId="3410182930" sldId="298"/>
            <ac:spMk id="400" creationId="{3E3C16BA-B56D-BD1F-D71F-3939CC423EA5}"/>
          </ac:spMkLst>
        </pc:spChg>
        <pc:spChg chg="mod">
          <ac:chgData name="Shweta Gera" userId="e870a5615c5e3aee" providerId="LiveId" clId="{C0F81BF3-1FF5-475B-8922-2F79A4B854B0}" dt="2025-11-01T07:20:44.713" v="790" actId="1076"/>
          <ac:spMkLst>
            <pc:docMk/>
            <pc:sldMk cId="3410182930" sldId="298"/>
            <ac:spMk id="402" creationId="{05EEC57B-E1BC-75B6-0277-5EDAD1D33D63}"/>
          </ac:spMkLst>
        </pc:spChg>
        <pc:picChg chg="mod">
          <ac:chgData name="Shweta Gera" userId="e870a5615c5e3aee" providerId="LiveId" clId="{C0F81BF3-1FF5-475B-8922-2F79A4B854B0}" dt="2025-11-01T07:28:55.760" v="835" actId="14100"/>
          <ac:picMkLst>
            <pc:docMk/>
            <pc:sldMk cId="3410182930" sldId="298"/>
            <ac:picMk id="393" creationId="{B715DB3F-82BA-1FF6-26A8-B9558FD254A0}"/>
          </ac:picMkLst>
        </pc:picChg>
        <pc:picChg chg="mod">
          <ac:chgData name="Shweta Gera" userId="e870a5615c5e3aee" providerId="LiveId" clId="{C0F81BF3-1FF5-475B-8922-2F79A4B854B0}" dt="2025-11-01T07:28:59.354" v="836" actId="14100"/>
          <ac:picMkLst>
            <pc:docMk/>
            <pc:sldMk cId="3410182930" sldId="298"/>
            <ac:picMk id="394" creationId="{1B484251-782F-D2D8-C110-25C946C661F0}"/>
          </ac:picMkLst>
        </pc:picChg>
        <pc:picChg chg="mod">
          <ac:chgData name="Shweta Gera" userId="e870a5615c5e3aee" providerId="LiveId" clId="{C0F81BF3-1FF5-475B-8922-2F79A4B854B0}" dt="2025-11-01T07:29:02.397" v="837" actId="14100"/>
          <ac:picMkLst>
            <pc:docMk/>
            <pc:sldMk cId="3410182930" sldId="298"/>
            <ac:picMk id="395" creationId="{31DF9B27-B394-F2F8-DBFB-8A39FA2081AC}"/>
          </ac:picMkLst>
        </pc:picChg>
      </pc:sldChg>
      <pc:sldChg chg="addSp delSp modSp add mod ord">
        <pc:chgData name="Shweta Gera" userId="e870a5615c5e3aee" providerId="LiveId" clId="{C0F81BF3-1FF5-475B-8922-2F79A4B854B0}" dt="2025-11-11T08:40:03.087" v="1404" actId="14100"/>
        <pc:sldMkLst>
          <pc:docMk/>
          <pc:sldMk cId="1607980597" sldId="299"/>
        </pc:sldMkLst>
        <pc:spChg chg="add mod">
          <ac:chgData name="Shweta Gera" userId="e870a5615c5e3aee" providerId="LiveId" clId="{C0F81BF3-1FF5-475B-8922-2F79A4B854B0}" dt="2025-11-11T08:01:15.650" v="1259" actId="255"/>
          <ac:spMkLst>
            <pc:docMk/>
            <pc:sldMk cId="1607980597" sldId="299"/>
            <ac:spMk id="5" creationId="{1B3738D0-1FB4-3168-4E83-1A99B0973329}"/>
          </ac:spMkLst>
        </pc:spChg>
        <pc:spChg chg="add mod">
          <ac:chgData name="Shweta Gera" userId="e870a5615c5e3aee" providerId="LiveId" clId="{C0F81BF3-1FF5-475B-8922-2F79A4B854B0}" dt="2025-11-11T08:40:03.087" v="1404" actId="14100"/>
          <ac:spMkLst>
            <pc:docMk/>
            <pc:sldMk cId="1607980597" sldId="299"/>
            <ac:spMk id="7" creationId="{A3DDDE8E-3308-CD6D-061E-4D7AA0BF1B43}"/>
          </ac:spMkLst>
        </pc:spChg>
        <pc:spChg chg="add mod">
          <ac:chgData name="Shweta Gera" userId="e870a5615c5e3aee" providerId="LiveId" clId="{C0F81BF3-1FF5-475B-8922-2F79A4B854B0}" dt="2025-11-11T08:00:37.361" v="1254" actId="1076"/>
          <ac:spMkLst>
            <pc:docMk/>
            <pc:sldMk cId="1607980597" sldId="299"/>
            <ac:spMk id="9" creationId="{9AAFC68F-6843-5727-5D77-4EC052300378}"/>
          </ac:spMkLst>
        </pc:spChg>
        <pc:spChg chg="mod">
          <ac:chgData name="Shweta Gera" userId="e870a5615c5e3aee" providerId="LiveId" clId="{C0F81BF3-1FF5-475B-8922-2F79A4B854B0}" dt="2025-11-11T07:52:45.426" v="1158" actId="20577"/>
          <ac:spMkLst>
            <pc:docMk/>
            <pc:sldMk cId="1607980597" sldId="299"/>
            <ac:spMk id="480" creationId="{3A95B5F9-DB16-BCD7-769C-3ECC3AE8B2AD}"/>
          </ac:spMkLst>
        </pc:spChg>
        <pc:spChg chg="del">
          <ac:chgData name="Shweta Gera" userId="e870a5615c5e3aee" providerId="LiveId" clId="{C0F81BF3-1FF5-475B-8922-2F79A4B854B0}" dt="2025-11-11T07:53:10.130" v="1160" actId="478"/>
          <ac:spMkLst>
            <pc:docMk/>
            <pc:sldMk cId="1607980597" sldId="299"/>
            <ac:spMk id="481" creationId="{E0DE5975-CE66-5D3C-D128-2B423532CAEB}"/>
          </ac:spMkLst>
        </pc:spChg>
        <pc:spChg chg="del">
          <ac:chgData name="Shweta Gera" userId="e870a5615c5e3aee" providerId="LiveId" clId="{C0F81BF3-1FF5-475B-8922-2F79A4B854B0}" dt="2025-11-11T07:53:06.278" v="1159" actId="478"/>
          <ac:spMkLst>
            <pc:docMk/>
            <pc:sldMk cId="1607980597" sldId="299"/>
            <ac:spMk id="483" creationId="{5FC4E530-4E8A-C225-EE80-4C2981EB74FD}"/>
          </ac:spMkLst>
        </pc:spChg>
        <pc:spChg chg="del">
          <ac:chgData name="Shweta Gera" userId="e870a5615c5e3aee" providerId="LiveId" clId="{C0F81BF3-1FF5-475B-8922-2F79A4B854B0}" dt="2025-11-11T07:53:06.278" v="1159" actId="478"/>
          <ac:spMkLst>
            <pc:docMk/>
            <pc:sldMk cId="1607980597" sldId="299"/>
            <ac:spMk id="484" creationId="{41E2285D-2E5F-CC34-ACC6-15A35770C491}"/>
          </ac:spMkLst>
        </pc:spChg>
        <pc:spChg chg="del">
          <ac:chgData name="Shweta Gera" userId="e870a5615c5e3aee" providerId="LiveId" clId="{C0F81BF3-1FF5-475B-8922-2F79A4B854B0}" dt="2025-11-11T07:53:06.278" v="1159" actId="478"/>
          <ac:spMkLst>
            <pc:docMk/>
            <pc:sldMk cId="1607980597" sldId="299"/>
            <ac:spMk id="486" creationId="{B45CF74F-210F-3D2F-D089-8FF2A6252402}"/>
          </ac:spMkLst>
        </pc:spChg>
        <pc:spChg chg="del">
          <ac:chgData name="Shweta Gera" userId="e870a5615c5e3aee" providerId="LiveId" clId="{C0F81BF3-1FF5-475B-8922-2F79A4B854B0}" dt="2025-11-11T07:53:06.278" v="1159" actId="478"/>
          <ac:spMkLst>
            <pc:docMk/>
            <pc:sldMk cId="1607980597" sldId="299"/>
            <ac:spMk id="487" creationId="{C1ABED57-35F9-A154-A337-9D5F3A8D9B6C}"/>
          </ac:spMkLst>
        </pc:spChg>
        <pc:spChg chg="del">
          <ac:chgData name="Shweta Gera" userId="e870a5615c5e3aee" providerId="LiveId" clId="{C0F81BF3-1FF5-475B-8922-2F79A4B854B0}" dt="2025-11-11T07:55:02.523" v="1188" actId="478"/>
          <ac:spMkLst>
            <pc:docMk/>
            <pc:sldMk cId="1607980597" sldId="299"/>
            <ac:spMk id="489" creationId="{19637AA0-7D76-26F8-0FD6-27E95115C1B9}"/>
          </ac:spMkLst>
        </pc:spChg>
        <pc:spChg chg="del mod">
          <ac:chgData name="Shweta Gera" userId="e870a5615c5e3aee" providerId="LiveId" clId="{C0F81BF3-1FF5-475B-8922-2F79A4B854B0}" dt="2025-11-11T07:54:57.107" v="1187" actId="478"/>
          <ac:spMkLst>
            <pc:docMk/>
            <pc:sldMk cId="1607980597" sldId="299"/>
            <ac:spMk id="490" creationId="{0B28CE63-E0CA-C51F-1D4E-29B913BEF05A}"/>
          </ac:spMkLst>
        </pc:spChg>
        <pc:picChg chg="add mod">
          <ac:chgData name="Shweta Gera" userId="e870a5615c5e3aee" providerId="LiveId" clId="{C0F81BF3-1FF5-475B-8922-2F79A4B854B0}" dt="2025-11-11T07:58:40.683" v="1236" actId="1076"/>
          <ac:picMkLst>
            <pc:docMk/>
            <pc:sldMk cId="1607980597" sldId="299"/>
            <ac:picMk id="3" creationId="{C578FA86-54F0-1829-FCE5-886C45C41EEE}"/>
          </ac:picMkLst>
        </pc:picChg>
        <pc:picChg chg="del">
          <ac:chgData name="Shweta Gera" userId="e870a5615c5e3aee" providerId="LiveId" clId="{C0F81BF3-1FF5-475B-8922-2F79A4B854B0}" dt="2025-11-11T07:53:06.278" v="1159" actId="478"/>
          <ac:picMkLst>
            <pc:docMk/>
            <pc:sldMk cId="1607980597" sldId="299"/>
            <ac:picMk id="477" creationId="{488DF2E6-394D-5A18-834E-8F374FC3C784}"/>
          </ac:picMkLst>
        </pc:picChg>
        <pc:picChg chg="del">
          <ac:chgData name="Shweta Gera" userId="e870a5615c5e3aee" providerId="LiveId" clId="{C0F81BF3-1FF5-475B-8922-2F79A4B854B0}" dt="2025-11-11T07:53:06.278" v="1159" actId="478"/>
          <ac:picMkLst>
            <pc:docMk/>
            <pc:sldMk cId="1607980597" sldId="299"/>
            <ac:picMk id="478" creationId="{A547FAC8-D14E-7CD0-3F2F-701A9B1E92BC}"/>
          </ac:picMkLst>
        </pc:picChg>
        <pc:picChg chg="mod">
          <ac:chgData name="Shweta Gera" userId="e870a5615c5e3aee" providerId="LiveId" clId="{C0F81BF3-1FF5-475B-8922-2F79A4B854B0}" dt="2025-11-11T08:00:49.485" v="1256" actId="14100"/>
          <ac:picMkLst>
            <pc:docMk/>
            <pc:sldMk cId="1607980597" sldId="299"/>
            <ac:picMk id="479" creationId="{EBD4410C-F61F-5C80-EE1A-5C63B79C3954}"/>
          </ac:picMkLst>
        </pc:picChg>
        <pc:picChg chg="del">
          <ac:chgData name="Shweta Gera" userId="e870a5615c5e3aee" providerId="LiveId" clId="{C0F81BF3-1FF5-475B-8922-2F79A4B854B0}" dt="2025-11-11T07:53:06.278" v="1159" actId="478"/>
          <ac:picMkLst>
            <pc:docMk/>
            <pc:sldMk cId="1607980597" sldId="299"/>
            <ac:picMk id="482" creationId="{8727AEA5-F867-2E71-8592-7B7C4E552BBC}"/>
          </ac:picMkLst>
        </pc:picChg>
        <pc:picChg chg="del">
          <ac:chgData name="Shweta Gera" userId="e870a5615c5e3aee" providerId="LiveId" clId="{C0F81BF3-1FF5-475B-8922-2F79A4B854B0}" dt="2025-11-11T07:53:06.278" v="1159" actId="478"/>
          <ac:picMkLst>
            <pc:docMk/>
            <pc:sldMk cId="1607980597" sldId="299"/>
            <ac:picMk id="485" creationId="{5F917418-1991-69F4-7AB9-4F0E988983D2}"/>
          </ac:picMkLst>
        </pc:picChg>
        <pc:picChg chg="del">
          <ac:chgData name="Shweta Gera" userId="e870a5615c5e3aee" providerId="LiveId" clId="{C0F81BF3-1FF5-475B-8922-2F79A4B854B0}" dt="2025-11-11T07:53:55.520" v="1170" actId="478"/>
          <ac:picMkLst>
            <pc:docMk/>
            <pc:sldMk cId="1607980597" sldId="299"/>
            <ac:picMk id="488" creationId="{E4AA90C5-2648-4A81-44E8-227305B48F1B}"/>
          </ac:picMkLst>
        </pc:picChg>
        <pc:picChg chg="del">
          <ac:chgData name="Shweta Gera" userId="e870a5615c5e3aee" providerId="LiveId" clId="{C0F81BF3-1FF5-475B-8922-2F79A4B854B0}" dt="2025-11-11T07:53:06.278" v="1159" actId="478"/>
          <ac:picMkLst>
            <pc:docMk/>
            <pc:sldMk cId="1607980597" sldId="299"/>
            <ac:picMk id="491" creationId="{92968BD3-059F-B1DC-1138-494892886EC5}"/>
          </ac:picMkLst>
        </pc:picChg>
        <pc:picChg chg="del">
          <ac:chgData name="Shweta Gera" userId="e870a5615c5e3aee" providerId="LiveId" clId="{C0F81BF3-1FF5-475B-8922-2F79A4B854B0}" dt="2025-11-11T07:53:06.278" v="1159" actId="478"/>
          <ac:picMkLst>
            <pc:docMk/>
            <pc:sldMk cId="1607980597" sldId="299"/>
            <ac:picMk id="492" creationId="{CC119CEE-E6A4-FE8F-E6EC-534E82A2879A}"/>
          </ac:picMkLst>
        </pc:picChg>
        <pc:picChg chg="del">
          <ac:chgData name="Shweta Gera" userId="e870a5615c5e3aee" providerId="LiveId" clId="{C0F81BF3-1FF5-475B-8922-2F79A4B854B0}" dt="2025-11-11T07:53:53.424" v="1169" actId="478"/>
          <ac:picMkLst>
            <pc:docMk/>
            <pc:sldMk cId="1607980597" sldId="299"/>
            <ac:picMk id="493" creationId="{9AD023CD-2C44-C25A-39F2-DEB5B9B18866}"/>
          </ac:picMkLst>
        </pc:picChg>
      </pc:sldChg>
      <pc:sldChg chg="modSp add mod ord">
        <pc:chgData name="Shweta Gera" userId="e870a5615c5e3aee" providerId="LiveId" clId="{C0F81BF3-1FF5-475B-8922-2F79A4B854B0}" dt="2025-11-11T08:35:45.579" v="1402" actId="14100"/>
        <pc:sldMkLst>
          <pc:docMk/>
          <pc:sldMk cId="3543519312" sldId="300"/>
        </pc:sldMkLst>
        <pc:spChg chg="mod">
          <ac:chgData name="Shweta Gera" userId="e870a5615c5e3aee" providerId="LiveId" clId="{C0F81BF3-1FF5-475B-8922-2F79A4B854B0}" dt="2025-11-11T08:32:21.052" v="1373" actId="1076"/>
          <ac:spMkLst>
            <pc:docMk/>
            <pc:sldMk cId="3543519312" sldId="300"/>
            <ac:spMk id="8" creationId="{9E6F05B5-7116-44CF-F2BC-2531170E7BE0}"/>
          </ac:spMkLst>
        </pc:spChg>
        <pc:spChg chg="mod">
          <ac:chgData name="Shweta Gera" userId="e870a5615c5e3aee" providerId="LiveId" clId="{C0F81BF3-1FF5-475B-8922-2F79A4B854B0}" dt="2025-11-11T08:35:45.579" v="1402" actId="14100"/>
          <ac:spMkLst>
            <pc:docMk/>
            <pc:sldMk cId="3543519312" sldId="300"/>
            <ac:spMk id="10" creationId="{B4E059F7-3CF9-7FA0-9A97-2B1AD323DD98}"/>
          </ac:spMkLst>
        </pc:spChg>
        <pc:spChg chg="mod">
          <ac:chgData name="Shweta Gera" userId="e870a5615c5e3aee" providerId="LiveId" clId="{C0F81BF3-1FF5-475B-8922-2F79A4B854B0}" dt="2025-11-11T08:32:04.301" v="1370" actId="1076"/>
          <ac:spMkLst>
            <pc:docMk/>
            <pc:sldMk cId="3543519312" sldId="300"/>
            <ac:spMk id="396" creationId="{2A9D9B90-D5EF-0A41-7E73-E1FBCB96B0C0}"/>
          </ac:spMkLst>
        </pc:spChg>
        <pc:spChg chg="mod">
          <ac:chgData name="Shweta Gera" userId="e870a5615c5e3aee" providerId="LiveId" clId="{C0F81BF3-1FF5-475B-8922-2F79A4B854B0}" dt="2025-11-11T08:32:16.631" v="1372" actId="1076"/>
          <ac:spMkLst>
            <pc:docMk/>
            <pc:sldMk cId="3543519312" sldId="300"/>
            <ac:spMk id="398" creationId="{25FC6DCD-DE1B-248D-D59A-136D21D06165}"/>
          </ac:spMkLst>
        </pc:spChg>
        <pc:spChg chg="mod">
          <ac:chgData name="Shweta Gera" userId="e870a5615c5e3aee" providerId="LiveId" clId="{C0F81BF3-1FF5-475B-8922-2F79A4B854B0}" dt="2025-11-11T08:32:38.916" v="1376" actId="1076"/>
          <ac:spMkLst>
            <pc:docMk/>
            <pc:sldMk cId="3543519312" sldId="300"/>
            <ac:spMk id="400" creationId="{4B906AD1-0936-05C4-F8C2-F8AAC245D662}"/>
          </ac:spMkLst>
        </pc:spChg>
        <pc:picChg chg="mod">
          <ac:chgData name="Shweta Gera" userId="e870a5615c5e3aee" providerId="LiveId" clId="{C0F81BF3-1FF5-475B-8922-2F79A4B854B0}" dt="2025-11-11T08:32:28.508" v="1374" actId="14100"/>
          <ac:picMkLst>
            <pc:docMk/>
            <pc:sldMk cId="3543519312" sldId="300"/>
            <ac:picMk id="393" creationId="{3495B3BA-0EFF-23C4-9729-2C53F4D69A6D}"/>
          </ac:picMkLst>
        </pc:picChg>
        <pc:picChg chg="mod">
          <ac:chgData name="Shweta Gera" userId="e870a5615c5e3aee" providerId="LiveId" clId="{C0F81BF3-1FF5-475B-8922-2F79A4B854B0}" dt="2025-11-11T08:32:51.565" v="1378" actId="14100"/>
          <ac:picMkLst>
            <pc:docMk/>
            <pc:sldMk cId="3543519312" sldId="300"/>
            <ac:picMk id="394" creationId="{C6DF43A3-BB89-9A02-BD94-B5981F373068}"/>
          </ac:picMkLst>
        </pc:picChg>
      </pc:sldChg>
      <pc:sldChg chg="addSp delSp modSp new mod">
        <pc:chgData name="Shweta Gera" userId="e870a5615c5e3aee" providerId="LiveId" clId="{C0F81BF3-1FF5-475B-8922-2F79A4B854B0}" dt="2025-11-11T09:06:02.783" v="1421" actId="14100"/>
        <pc:sldMkLst>
          <pc:docMk/>
          <pc:sldMk cId="282938779" sldId="301"/>
        </pc:sldMkLst>
        <pc:spChg chg="del">
          <ac:chgData name="Shweta Gera" userId="e870a5615c5e3aee" providerId="LiveId" clId="{C0F81BF3-1FF5-475B-8922-2F79A4B854B0}" dt="2025-11-11T09:04:21.675" v="1408" actId="478"/>
          <ac:spMkLst>
            <pc:docMk/>
            <pc:sldMk cId="282938779" sldId="301"/>
            <ac:spMk id="2" creationId="{8202072A-2FB6-C94F-C2D1-9115DE28ABFB}"/>
          </ac:spMkLst>
        </pc:spChg>
        <pc:spChg chg="del mod">
          <ac:chgData name="Shweta Gera" userId="e870a5615c5e3aee" providerId="LiveId" clId="{C0F81BF3-1FF5-475B-8922-2F79A4B854B0}" dt="2025-11-11T09:04:19.444" v="1407" actId="478"/>
          <ac:spMkLst>
            <pc:docMk/>
            <pc:sldMk cId="282938779" sldId="301"/>
            <ac:spMk id="3" creationId="{3878FB79-3FD0-EC9A-50CC-B5466ABEB376}"/>
          </ac:spMkLst>
        </pc:spChg>
        <pc:spChg chg="add mod">
          <ac:chgData name="Shweta Gera" userId="e870a5615c5e3aee" providerId="LiveId" clId="{C0F81BF3-1FF5-475B-8922-2F79A4B854B0}" dt="2025-11-11T09:05:58.934" v="1420" actId="1076"/>
          <ac:spMkLst>
            <pc:docMk/>
            <pc:sldMk cId="282938779" sldId="301"/>
            <ac:spMk id="5" creationId="{31842D7A-754B-7F38-533D-0B1161A07A87}"/>
          </ac:spMkLst>
        </pc:spChg>
        <pc:picChg chg="add mod">
          <ac:chgData name="Shweta Gera" userId="e870a5615c5e3aee" providerId="LiveId" clId="{C0F81BF3-1FF5-475B-8922-2F79A4B854B0}" dt="2025-11-11T09:06:02.783" v="1421" actId="14100"/>
          <ac:picMkLst>
            <pc:docMk/>
            <pc:sldMk cId="282938779" sldId="301"/>
            <ac:picMk id="7" creationId="{75C1C61F-01C8-9701-FCC9-A648ED12D8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e8627b3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9e8627b3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e8627b36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e8627b36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8627b36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9e8627b36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e8627b36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9e8627b36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e8627b36e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9e8627b36e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e8627b36e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39e8627b36e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50" rIns="93125" bIns="46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233" name="Google Shape;233;g39e8627b36e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50" rIns="93125" bIns="465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14</a:t>
            </a:fld>
            <a:endParaRPr sz="15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e8627b36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9e8627b36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e8627b36e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9e8627b36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e8627b36e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9e8627b36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8A7C8355-5B5B-AE89-1203-0061DAB8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>
            <a:extLst>
              <a:ext uri="{FF2B5EF4-FFF2-40B4-BE49-F238E27FC236}">
                <a16:creationId xmlns:a16="http://schemas.microsoft.com/office/drawing/2014/main" id="{D99BC21A-E1CF-9D66-E633-BE25A8BBE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1" name="Google Shape;391;p17:notes">
            <a:extLst>
              <a:ext uri="{FF2B5EF4-FFF2-40B4-BE49-F238E27FC236}">
                <a16:creationId xmlns:a16="http://schemas.microsoft.com/office/drawing/2014/main" id="{F834740A-5935-6112-9850-11D793599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1296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AA28CEED-874A-4C01-F91C-9C5D5DB10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>
            <a:extLst>
              <a:ext uri="{FF2B5EF4-FFF2-40B4-BE49-F238E27FC236}">
                <a16:creationId xmlns:a16="http://schemas.microsoft.com/office/drawing/2014/main" id="{57900864-C7AF-271D-99F3-8CC07CB19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7:notes">
            <a:extLst>
              <a:ext uri="{FF2B5EF4-FFF2-40B4-BE49-F238E27FC236}">
                <a16:creationId xmlns:a16="http://schemas.microsoft.com/office/drawing/2014/main" id="{C849F8B8-E056-D907-CC5D-B73111E70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6426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DD8C588A-016E-F52C-3217-E9C87144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>
            <a:extLst>
              <a:ext uri="{FF2B5EF4-FFF2-40B4-BE49-F238E27FC236}">
                <a16:creationId xmlns:a16="http://schemas.microsoft.com/office/drawing/2014/main" id="{B99E2A7E-BB6F-70C0-2E2D-7102A7713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9:notes">
            <a:extLst>
              <a:ext uri="{FF2B5EF4-FFF2-40B4-BE49-F238E27FC236}">
                <a16:creationId xmlns:a16="http://schemas.microsoft.com/office/drawing/2014/main" id="{8567B9B4-8904-9420-BF80-9359E99C9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85794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9A7125AD-72E1-EAD6-1CFF-32D4C762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>
            <a:extLst>
              <a:ext uri="{FF2B5EF4-FFF2-40B4-BE49-F238E27FC236}">
                <a16:creationId xmlns:a16="http://schemas.microsoft.com/office/drawing/2014/main" id="{B2CD29E6-2231-A347-5E7F-2255E1B99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2:notes">
            <a:extLst>
              <a:ext uri="{FF2B5EF4-FFF2-40B4-BE49-F238E27FC236}">
                <a16:creationId xmlns:a16="http://schemas.microsoft.com/office/drawing/2014/main" id="{349FBEB7-8A6B-15F5-67C3-9E72C49B8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0808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935997CF-8AA8-D862-6ED1-A52A907B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>
            <a:extLst>
              <a:ext uri="{FF2B5EF4-FFF2-40B4-BE49-F238E27FC236}">
                <a16:creationId xmlns:a16="http://schemas.microsoft.com/office/drawing/2014/main" id="{8CF02456-6F5E-2EBD-40B0-FEDEEC8AC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2:notes">
            <a:extLst>
              <a:ext uri="{FF2B5EF4-FFF2-40B4-BE49-F238E27FC236}">
                <a16:creationId xmlns:a16="http://schemas.microsoft.com/office/drawing/2014/main" id="{6E15CF3C-9F91-3A26-B5FD-D2183286BB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70951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FC66D790-27B5-224F-31A3-DAAD6653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>
            <a:extLst>
              <a:ext uri="{FF2B5EF4-FFF2-40B4-BE49-F238E27FC236}">
                <a16:creationId xmlns:a16="http://schemas.microsoft.com/office/drawing/2014/main" id="{43DA64D4-47B1-71E3-D870-4210BD638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1" name="Google Shape;391;p17:notes">
            <a:extLst>
              <a:ext uri="{FF2B5EF4-FFF2-40B4-BE49-F238E27FC236}">
                <a16:creationId xmlns:a16="http://schemas.microsoft.com/office/drawing/2014/main" id="{25BC0648-1EA6-4B7B-C414-4FA501E4E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14745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62.png"/><Relationship Id="rId10" Type="http://schemas.openxmlformats.org/officeDocument/2006/relationships/image" Target="../media/image65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68.png"/><Relationship Id="rId10" Type="http://schemas.openxmlformats.org/officeDocument/2006/relationships/image" Target="../media/image71.png"/><Relationship Id="rId4" Type="http://schemas.openxmlformats.org/officeDocument/2006/relationships/image" Target="../media/image67.png"/><Relationship Id="rId9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ntegrated-risk-api-670590024965.us-central1.run.app/" TargetMode="External"/><Relationship Id="rId5" Type="http://schemas.openxmlformats.org/officeDocument/2006/relationships/hyperlink" Target="https://credit-risk-ui-670590024965.us-central1.run.app/" TargetMode="External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7D67-3BC4-2548-1C9C-ED74E78D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9" y="1788171"/>
            <a:ext cx="6700539" cy="4121302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chemeClr val="accent1">
                    <a:lumMod val="49000"/>
                  </a:schemeClr>
                </a:solidFill>
              </a:rPr>
              <a:t>Financial Risk and Compliance Accelerator</a:t>
            </a:r>
            <a:br>
              <a:rPr lang="en-US" sz="4100" dirty="0">
                <a:solidFill>
                  <a:schemeClr val="accent1">
                    <a:lumMod val="49000"/>
                  </a:schemeClr>
                </a:solidFill>
              </a:rPr>
            </a:br>
            <a:r>
              <a:rPr lang="en-US" sz="4100" dirty="0">
                <a:solidFill>
                  <a:schemeClr val="accent1">
                    <a:lumMod val="49000"/>
                  </a:schemeClr>
                </a:solidFill>
              </a:rPr>
              <a:t>(AMPBA Capstone Project)</a:t>
            </a:r>
            <a:r>
              <a:rPr lang="en-US" sz="4100" dirty="0">
                <a:solidFill>
                  <a:srgbClr val="FFFFFF"/>
                </a:solidFill>
              </a:rPr>
              <a:t>t)</a:t>
            </a:r>
            <a:endParaRPr lang="en-IN" sz="41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375A2-B639-EC29-F637-E42784FE1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199" y="11130"/>
            <a:ext cx="5710747" cy="1792281"/>
          </a:xfrm>
        </p:spPr>
        <p:txBody>
          <a:bodyPr anchor="ctr">
            <a:normAutofit/>
          </a:bodyPr>
          <a:lstStyle/>
          <a:p>
            <a:pPr marL="50800" indent="0">
              <a:buNone/>
            </a:pPr>
            <a:r>
              <a:rPr lang="en-US" sz="2000" dirty="0">
                <a:solidFill>
                  <a:schemeClr val="accent1">
                    <a:lumMod val="76000"/>
                  </a:schemeClr>
                </a:solidFill>
              </a:rPr>
              <a:t>Faculty mentor: Vijay Bhaskar </a:t>
            </a:r>
            <a:r>
              <a:rPr lang="en-US" sz="2000" err="1">
                <a:solidFill>
                  <a:schemeClr val="accent1">
                    <a:lumMod val="76000"/>
                  </a:schemeClr>
                </a:solidFill>
              </a:rPr>
              <a:t>Marisetty</a:t>
            </a:r>
            <a:r>
              <a:rPr lang="en-US" sz="2000" dirty="0">
                <a:solidFill>
                  <a:schemeClr val="accent1">
                    <a:lumMod val="76000"/>
                  </a:schemeClr>
                </a:solidFill>
              </a:rPr>
              <a:t> (ISB)</a:t>
            </a:r>
            <a:br>
              <a:rPr lang="en-US" sz="2000" dirty="0">
                <a:solidFill>
                  <a:schemeClr val="accent1">
                    <a:lumMod val="76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6000"/>
                  </a:schemeClr>
                </a:solidFill>
              </a:rPr>
              <a:t>Sponsor: Prem Kalyan (Bounteous)</a:t>
            </a:r>
            <a:endParaRPr lang="en-IN" sz="20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54FB2-5718-606A-CB28-06A02CA10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6139" y="3143438"/>
            <a:ext cx="3474621" cy="27804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Team Members:</a:t>
            </a:r>
            <a:br>
              <a:rPr lang="en-US" sz="2000"/>
            </a:br>
            <a:r>
              <a:rPr lang="en-US" sz="2000"/>
              <a:t>1. Astha Gupta</a:t>
            </a:r>
          </a:p>
          <a:p>
            <a:pPr marL="0" indent="0">
              <a:buNone/>
            </a:pPr>
            <a:r>
              <a:rPr lang="en-US" sz="2000"/>
              <a:t>2. Barsha Sinha</a:t>
            </a:r>
          </a:p>
          <a:p>
            <a:pPr marL="0" indent="0">
              <a:buNone/>
            </a:pPr>
            <a:r>
              <a:rPr lang="en-US" sz="2000"/>
              <a:t>3. Himanshu Dubey</a:t>
            </a:r>
          </a:p>
          <a:p>
            <a:pPr marL="0" indent="0">
              <a:buNone/>
            </a:pPr>
            <a:r>
              <a:rPr lang="en-US" sz="2000"/>
              <a:t>4. Rachna Devraj</a:t>
            </a:r>
          </a:p>
          <a:p>
            <a:pPr marL="0" indent="0">
              <a:buNone/>
            </a:pPr>
            <a:r>
              <a:rPr lang="en-US" sz="2000"/>
              <a:t>5. Shweta</a:t>
            </a:r>
            <a:endParaRPr lang="en-IN" sz="2000"/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4998D543-632B-F0AF-A09E-31A6FF2DE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311" y="14261"/>
            <a:ext cx="3324689" cy="1406547"/>
          </a:xfrm>
          <a:prstGeom prst="rect">
            <a:avLst/>
          </a:prstGeom>
        </p:spPr>
      </p:pic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551272AE-0331-9914-95DA-45206C3C2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" y="14377"/>
            <a:ext cx="2916209" cy="124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7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5" y="270688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24062" y="817215"/>
            <a:ext cx="855106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AML Detection Model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10000" y="1845915"/>
            <a:ext cx="4572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Leveraging machine learning for accurate AML detection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2706885"/>
            <a:ext cx="5238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Contents: AML Detection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124639" y="1756573"/>
            <a:ext cx="11738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8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01. Executive Overview:</a:t>
            </a:r>
            <a:r>
              <a:rPr lang="en-US" sz="1838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Project highlights and key achievements in AML</a:t>
            </a:r>
            <a:endParaRPr sz="1806"/>
          </a:p>
        </p:txBody>
      </p:sp>
      <p:sp>
        <p:nvSpPr>
          <p:cNvPr id="94" name="Google Shape;94;p14"/>
          <p:cNvSpPr txBox="1"/>
          <p:nvPr/>
        </p:nvSpPr>
        <p:spPr>
          <a:xfrm>
            <a:off x="1124639" y="2437436"/>
            <a:ext cx="11738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8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02. Data Strategy:</a:t>
            </a:r>
            <a:r>
              <a:rPr lang="en-US" sz="1838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Unified data enrichment and preparation methodology</a:t>
            </a:r>
            <a:endParaRPr sz="1806"/>
          </a:p>
        </p:txBody>
      </p:sp>
      <p:sp>
        <p:nvSpPr>
          <p:cNvPr id="95" name="Google Shape;95;p14"/>
          <p:cNvSpPr txBox="1"/>
          <p:nvPr/>
        </p:nvSpPr>
        <p:spPr>
          <a:xfrm>
            <a:off x="1124639" y="3118299"/>
            <a:ext cx="11738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8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03. Model Development:</a:t>
            </a:r>
            <a:r>
              <a:rPr lang="en-US" sz="1838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Feature engineering and pipeline architecture</a:t>
            </a:r>
            <a:endParaRPr sz="1806"/>
          </a:p>
        </p:txBody>
      </p:sp>
      <p:sp>
        <p:nvSpPr>
          <p:cNvPr id="96" name="Google Shape;96;p14"/>
          <p:cNvSpPr txBox="1"/>
          <p:nvPr/>
        </p:nvSpPr>
        <p:spPr>
          <a:xfrm>
            <a:off x="1124639" y="3799161"/>
            <a:ext cx="11738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8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04. Performance Results:</a:t>
            </a:r>
            <a:r>
              <a:rPr lang="en-US" sz="1838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ROC curves and AUC scores</a:t>
            </a:r>
            <a:endParaRPr sz="1806"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18033"/>
            <a:ext cx="307299" cy="344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8896"/>
            <a:ext cx="307299" cy="344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79759"/>
            <a:ext cx="307299" cy="3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60621"/>
            <a:ext cx="307299" cy="344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95450"/>
            <a:ext cx="3492549" cy="443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95450"/>
            <a:ext cx="3492549" cy="443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95450"/>
            <a:ext cx="3492549" cy="443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13849" y="1981200"/>
            <a:ext cx="7429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Project Highlights (Executive Summary)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1981200"/>
            <a:ext cx="6286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57250" y="2981325"/>
            <a:ext cx="216027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System Success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3609975"/>
            <a:ext cx="2921049" cy="202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Successfully developed an end-to-end fraud detection system using IBM Transactions for Anti Money Laundering (AML) dataset, achieving high accuracy with focus on transparency and precision for real-world deployment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1981200"/>
            <a:ext cx="6858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35549" y="2981325"/>
            <a:ext cx="22602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Data Integration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35549" y="3609975"/>
            <a:ext cx="29211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Merged ~1</a:t>
            </a: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 transaction records with pattern data, creating several comprehensive features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13849" y="2981325"/>
            <a:ext cx="23202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Model Excellence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13849" y="3609975"/>
            <a:ext cx="2921049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Tested 8+ unique models and achieved an AUC of 88.5% (with an F1 of 87.4%)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125" y="21431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78424" y="2143125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PCA Model Summary</a:t>
            </a:r>
            <a:endParaRPr dirty="0"/>
          </a:p>
        </p:txBody>
      </p:sp>
      <p:graphicFrame>
        <p:nvGraphicFramePr>
          <p:cNvPr id="125" name="Google Shape;125;p16"/>
          <p:cNvGraphicFramePr/>
          <p:nvPr/>
        </p:nvGraphicFramePr>
        <p:xfrm>
          <a:off x="352725" y="1331625"/>
          <a:ext cx="11041100" cy="4597050"/>
        </p:xfrm>
        <a:graphic>
          <a:graphicData uri="http://schemas.openxmlformats.org/drawingml/2006/table">
            <a:tbl>
              <a:tblPr>
                <a:noFill/>
                <a:tableStyleId>{5948F9F4-F3FB-46A4-B4CE-6BB6C7C7DBDF}</a:tableStyleId>
              </a:tblPr>
              <a:tblGrid>
                <a:gridCol w="171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3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5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35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1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I Error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II Error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SVM-Linear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5.13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88.47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SVM-RBF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51.47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88.47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Boosting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3.91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52.94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87.37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Bagging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5.13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51.47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86.43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88.26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60.29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87.93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87.42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Neural Networks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64.71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88.57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88.47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52.94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89.26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88.26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MDA</a:t>
                      </a:r>
                      <a:r>
                        <a:rPr lang="en-US" sz="18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🏆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385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5.87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39.71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89.6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89.31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7.82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51.47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88.45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85.95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17"/>
          <p:cNvGraphicFramePr/>
          <p:nvPr/>
        </p:nvGraphicFramePr>
        <p:xfrm>
          <a:off x="400650" y="1409200"/>
          <a:ext cx="11072150" cy="4798675"/>
        </p:xfrm>
        <a:graphic>
          <a:graphicData uri="http://schemas.openxmlformats.org/drawingml/2006/table">
            <a:tbl>
              <a:tblPr>
                <a:noFill/>
                <a:tableStyleId>{5948F9F4-F3FB-46A4-B4CE-6BB6C7C7DBDF}</a:tableStyleId>
              </a:tblPr>
              <a:tblGrid>
                <a:gridCol w="172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2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8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8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38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9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I Error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II Error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 (%)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SVM-Linear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71.63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85.74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SVM-RBF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85.74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Boosting 🏆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97.06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75.19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86.16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Bagging 🏅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394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3.67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79.41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78.26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85.53</a:t>
                      </a: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83.82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77.53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85.53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Neural Networks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40.46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85.74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71.63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85.74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98.53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71.68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85.95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360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11.98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60.29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78.96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81.13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1" name="Google Shape;131;p1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AE Model Summary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8013" y="1701929"/>
            <a:ext cx="5286375" cy="4820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80554"/>
            <a:ext cx="5286375" cy="4820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71500" y="456604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Unified Data Strategy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1000125" y="1961554"/>
            <a:ext cx="470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Data Sources &amp; Integration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1000125" y="2590204"/>
            <a:ext cx="4476900" cy="26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9400" lvl="0" indent="-2730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Comprehensive transaction and identity data merged for complete fraud context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marL="279400" lvl="0" indent="-2730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trans_csv: 12,002,386 rows(across 2 files), 11 features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marL="279400" lvl="0" indent="-2730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pattern.txt: has pattern information in sets of AML patterns - which has been split and segregated and split to different pattern_id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marL="279400" lvl="0" indent="-2730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EDA to remove null values and duplicates and to understand the features in the transaction data vis-a-vis the pattern data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762750" y="1961554"/>
            <a:ext cx="470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Key Features &amp; Context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762750" y="2590204"/>
            <a:ext cx="44769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9400" lvl="0" indent="-279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Rich feature set capturing transaction behaviors and AML patterns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marL="279400" lvl="0" indent="-279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Transaction Amount, Top Senders, Receivers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marL="279400" lvl="0" indent="-279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Structuring patterns, Payment Type, Currency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marL="279400" lvl="0" indent="-279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Structuring analysis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  <a:p>
            <a:pPr marL="279400" lvl="0" indent="-279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is Laundering target variable for supervised learning</a:t>
            </a:r>
            <a:endParaRPr sz="1425">
              <a:solidFill>
                <a:srgbClr val="4B556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133475" y="3784371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571500" y="456604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00" y="1022725"/>
            <a:ext cx="6653900" cy="25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250" y="3788725"/>
            <a:ext cx="7401049" cy="287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31673"/>
            <a:ext cx="5286375" cy="45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Performance Metrics: ROC/AUC Analysis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1000125" y="3654623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XGBoost  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model demonstrated the best trade-off between sensitivity and specificity for real-world application.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1000125" y="2020490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Random forest Excellence: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Achieved highest AUC score of 0.</a:t>
            </a:r>
            <a:r>
              <a:rPr lang="en-US" sz="1425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79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with optimal balance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1000125" y="2837557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Stable Performance: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Consistent ROC curves indicate strong predictive power</a:t>
            </a:r>
            <a:endParaRPr/>
          </a:p>
        </p:txBody>
      </p:sp>
      <p:pic>
        <p:nvPicPr>
          <p:cNvPr id="160" name="Google Shape;16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811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8518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4750" y="1695450"/>
            <a:ext cx="4694776" cy="40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5" y="270688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1690687" y="817215"/>
            <a:ext cx="9251156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Fraud Detection Model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3271837" y="1845915"/>
            <a:ext cx="56483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Leveraging machine learning for accurate transaction fraud prediction</a:t>
            </a:r>
            <a:endParaRPr/>
          </a:p>
        </p:txBody>
      </p:sp>
      <p:pic>
        <p:nvPicPr>
          <p:cNvPr id="170" name="Google Shape;17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2706885"/>
            <a:ext cx="5238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Contents: Fraud Detection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1766579" y="1738725"/>
            <a:ext cx="91908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01. Executive Overview:</a:t>
            </a:r>
            <a:r>
              <a:rPr lang="en-US" sz="1439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Project highlights and key achievements in fraud detection</a:t>
            </a:r>
            <a:endParaRPr sz="1414"/>
          </a:p>
        </p:txBody>
      </p:sp>
      <p:sp>
        <p:nvSpPr>
          <p:cNvPr id="177" name="Google Shape;177;p22"/>
          <p:cNvSpPr txBox="1"/>
          <p:nvPr/>
        </p:nvSpPr>
        <p:spPr>
          <a:xfrm>
            <a:off x="1766579" y="2253900"/>
            <a:ext cx="91908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02. Data Strategy:</a:t>
            </a:r>
            <a:r>
              <a:rPr lang="en-US" sz="1439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Unified data enrichment and preparation methodology</a:t>
            </a:r>
            <a:endParaRPr sz="1414"/>
          </a:p>
        </p:txBody>
      </p:sp>
      <p:sp>
        <p:nvSpPr>
          <p:cNvPr id="178" name="Google Shape;178;p22"/>
          <p:cNvSpPr txBox="1"/>
          <p:nvPr/>
        </p:nvSpPr>
        <p:spPr>
          <a:xfrm>
            <a:off x="1766579" y="2769076"/>
            <a:ext cx="91908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03. Model Development:</a:t>
            </a:r>
            <a:r>
              <a:rPr lang="en-US" sz="1439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Feature engineering and pipeline architecture</a:t>
            </a:r>
            <a:endParaRPr sz="1414"/>
          </a:p>
        </p:txBody>
      </p:sp>
      <p:sp>
        <p:nvSpPr>
          <p:cNvPr id="179" name="Google Shape;179;p22"/>
          <p:cNvSpPr txBox="1"/>
          <p:nvPr/>
        </p:nvSpPr>
        <p:spPr>
          <a:xfrm>
            <a:off x="1766579" y="3284250"/>
            <a:ext cx="91908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04. Performance Results:</a:t>
            </a:r>
            <a:r>
              <a:rPr lang="en-US" sz="1439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ROC curves and AUC scores</a:t>
            </a:r>
            <a:endParaRPr sz="1414"/>
          </a:p>
        </p:txBody>
      </p:sp>
      <p:pic>
        <p:nvPicPr>
          <p:cNvPr id="180" name="Google Shape;18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1785229"/>
            <a:ext cx="240599" cy="26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300404"/>
            <a:ext cx="240599" cy="26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815579"/>
            <a:ext cx="240599" cy="26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3330754"/>
            <a:ext cx="240599" cy="26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95450"/>
            <a:ext cx="3492549" cy="414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95450"/>
            <a:ext cx="3492549" cy="414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95450"/>
            <a:ext cx="3492549" cy="414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13849" y="1981200"/>
            <a:ext cx="6858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Project Highlights</a:t>
            </a:r>
            <a:endParaRPr/>
          </a:p>
        </p:txBody>
      </p:sp>
      <p:pic>
        <p:nvPicPr>
          <p:cNvPr id="193" name="Google Shape;19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1981200"/>
            <a:ext cx="8572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857250" y="2981325"/>
            <a:ext cx="269033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857250" y="3609975"/>
            <a:ext cx="2921049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Successfully developed an end-to-end fraud detection system using IEEE-CIS dataset, achieving high accuracy with focus on transparency and precision for real-world deployment</a:t>
            </a:r>
            <a:endParaRPr/>
          </a:p>
        </p:txBody>
      </p:sp>
      <p:pic>
        <p:nvPicPr>
          <p:cNvPr id="196" name="Google Shape;19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1981200"/>
            <a:ext cx="6858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4635549" y="2981325"/>
            <a:ext cx="226028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Data Integration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4635549" y="3609975"/>
            <a:ext cx="2921049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Merged 590K transaction records with identity data, creating 434 comprehensive features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8413849" y="2981325"/>
            <a:ext cx="232029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Model Excellence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8413849" y="3609975"/>
            <a:ext cx="2921049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Tested 8+ algorithms including XGBoost, achieving AUC ~0.85 with balanced metrics</a:t>
            </a:r>
            <a:endParaRPr/>
          </a:p>
        </p:txBody>
      </p:sp>
      <p:pic>
        <p:nvPicPr>
          <p:cNvPr id="201" name="Google Shape;201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125" y="21431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78424" y="2143125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80554"/>
            <a:ext cx="5286375" cy="4820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80554"/>
            <a:ext cx="5286375" cy="4820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571500" y="456604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Unified Data Strategy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1000125" y="1961554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Data Sources &amp; Integration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1000125" y="2590204"/>
            <a:ext cx="4476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Comprehensive transaction and identity data merged for complete fraud context.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6762750" y="1961554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Key Features &amp; Context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6762750" y="2590204"/>
            <a:ext cx="4476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Rich feature set capturing transaction behaviors and identity patterns.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1133475" y="335202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1238250" y="3350121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`train_transaction.csv`: 590,540 rows, 394 features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1133475" y="378437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1238250" y="3782466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`train_identity.csv`: 144,233 rows, 41 features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1133475" y="421671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1238250" y="4214812"/>
            <a:ext cx="4238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Merged on TransactionID: 590,540 x 434 unified dataset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1133475" y="493853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238250" y="4936628"/>
            <a:ext cx="4238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Memory optimization through efficient NaN handling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6896100" y="335202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7000875" y="3350121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TransactionAmt, ProductCD, card details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6896100" y="378437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7000875" y="3782466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V-features for behavioral analysis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6896100" y="421671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7000875" y="4214812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Identity info: DeviceType, id_31-38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6896100" y="464906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7000875" y="4647158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`isFraud` target variable for supervised learning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>
            <a:spLocks noGrp="1"/>
          </p:cNvSpPr>
          <p:nvPr>
            <p:ph type="title"/>
          </p:nvPr>
        </p:nvSpPr>
        <p:spPr>
          <a:xfrm>
            <a:off x="638881" y="4474080"/>
            <a:ext cx="10909800" cy="10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lay"/>
              <a:buNone/>
            </a:pPr>
            <a:r>
              <a:rPr lang="en-US" sz="3100" b="1"/>
              <a:t>Feature Engineering</a:t>
            </a:r>
            <a:br>
              <a:rPr lang="en-US" sz="3100" b="1"/>
            </a:br>
            <a:endParaRPr sz="3100"/>
          </a:p>
        </p:txBody>
      </p:sp>
      <p:pic>
        <p:nvPicPr>
          <p:cNvPr id="237" name="Google Shape;237;p25" descr="A graph showing the number of days and month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752" y="1132496"/>
            <a:ext cx="3758184" cy="2151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 descr="A graph of a fraud distribution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224528" y="1315707"/>
            <a:ext cx="3758400" cy="178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 descr="A graph of a number of bars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7304" y="1329800"/>
            <a:ext cx="3758184" cy="175695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/>
          <p:nvPr/>
        </p:nvSpPr>
        <p:spPr>
          <a:xfrm>
            <a:off x="3389376" y="5634765"/>
            <a:ext cx="5410200" cy="18288"/>
          </a:xfrm>
          <a:custGeom>
            <a:avLst/>
            <a:gdLst/>
            <a:ahLst/>
            <a:cxnLst/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44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Dimensionality Reduction Strategy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1762125" y="2935783"/>
            <a:ext cx="9096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PCA Application: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Reduced dimensions while preserving key variance and fraud detection signals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1762125" y="3463379"/>
            <a:ext cx="9096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Signal Preservation: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Retained high-value legitimate transactions while controlling extreme outliers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1762125" y="3990975"/>
            <a:ext cx="9096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Outlier Control: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Applied log/power transformations to stabilize influence without losing valuable anomalies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1762125" y="4518570"/>
            <a:ext cx="9096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Fairness Assurance: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Ensured model fairness across different card types and device categories</a:t>
            </a:r>
            <a:endParaRPr/>
          </a:p>
        </p:txBody>
      </p:sp>
      <p:pic>
        <p:nvPicPr>
          <p:cNvPr id="250" name="Google Shape;25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500" y="298340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51100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40386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566195"/>
            <a:ext cx="3333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7" descr="A screenshot of a spreadsheet&#10;&#10;AI-generated content may be incorrect.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9100" y="510750"/>
            <a:ext cx="11334300" cy="58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8" descr="A table with numbers and lines&#10;&#10;AI-generated content may be incorrect.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4325" y="301625"/>
            <a:ext cx="11374200" cy="59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95450"/>
            <a:ext cx="5286375" cy="424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95450"/>
            <a:ext cx="5286375" cy="42418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Robust Model Pipeline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1000125" y="2076450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Algorithm Suite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6762750" y="2076450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Quality Assurance</a:t>
            </a:r>
            <a:endParaRPr/>
          </a:p>
        </p:txBody>
      </p:sp>
      <p:sp>
        <p:nvSpPr>
          <p:cNvPr id="273" name="Google Shape;273;p29"/>
          <p:cNvSpPr txBox="1"/>
          <p:nvPr/>
        </p:nvSpPr>
        <p:spPr>
          <a:xfrm>
            <a:off x="1133475" y="288798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9"/>
          <p:cNvSpPr txBox="1"/>
          <p:nvPr/>
        </p:nvSpPr>
        <p:spPr>
          <a:xfrm>
            <a:off x="1238250" y="2886075"/>
            <a:ext cx="42386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Comprehensive testing of SVM, Boosting, Random Forest, Neural Networks, Logistic Regression, MDA, and XGBoost</a:t>
            </a: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1133475" y="389926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1238250" y="3897362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Automated preprocessing pipeline</a:t>
            </a:r>
            <a:endParaRPr/>
          </a:p>
        </p:txBody>
      </p:sp>
      <p:sp>
        <p:nvSpPr>
          <p:cNvPr id="277" name="Google Shape;277;p29"/>
          <p:cNvSpPr txBox="1"/>
          <p:nvPr/>
        </p:nvSpPr>
        <p:spPr>
          <a:xfrm>
            <a:off x="1133475" y="433161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1238250" y="4329707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SGDClassifier for scalability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1133475" y="476395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1238250" y="4762053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No retraining needed for evaluation</a:t>
            </a:r>
            <a:endParaRPr/>
          </a:p>
        </p:txBody>
      </p:sp>
      <p:sp>
        <p:nvSpPr>
          <p:cNvPr id="281" name="Google Shape;281;p29"/>
          <p:cNvSpPr txBox="1"/>
          <p:nvPr/>
        </p:nvSpPr>
        <p:spPr>
          <a:xfrm>
            <a:off x="6896100" y="288798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7000875" y="2886075"/>
            <a:ext cx="4238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Built-in checks for data quality and consistent performance</a:t>
            </a:r>
            <a:endParaRPr/>
          </a:p>
        </p:txBody>
      </p:sp>
      <p:sp>
        <p:nvSpPr>
          <p:cNvPr id="283" name="Google Shape;283;p29"/>
          <p:cNvSpPr txBox="1"/>
          <p:nvPr/>
        </p:nvSpPr>
        <p:spPr>
          <a:xfrm>
            <a:off x="6896100" y="3609796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7000875" y="3607891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Scaling and imputation automation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6896100" y="404214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7000875" y="4040237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Skewness correction pipeline</a:t>
            </a:r>
            <a:endParaRPr/>
          </a:p>
        </p:txBody>
      </p:sp>
      <p:sp>
        <p:nvSpPr>
          <p:cNvPr id="287" name="Google Shape;287;p29"/>
          <p:cNvSpPr txBox="1"/>
          <p:nvPr/>
        </p:nvSpPr>
        <p:spPr>
          <a:xfrm>
            <a:off x="6896100" y="44744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7000875" y="4472582"/>
            <a:ext cx="4238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Cross-validation stability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70000"/>
            <a:ext cx="5286375" cy="506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Performance Metrics: ROC/AUC Analysis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1000125" y="3654623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The Random Forest model demonstrated the best trade-off between sensitivity and specificity for real-world application.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1000125" y="2020490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Random forest Excellence: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Achieved highest AUC score of 0.85 with optimal balance</a:t>
            </a:r>
            <a:endParaRPr/>
          </a:p>
        </p:txBody>
      </p:sp>
      <p:sp>
        <p:nvSpPr>
          <p:cNvPr id="297" name="Google Shape;297;p30"/>
          <p:cNvSpPr txBox="1"/>
          <p:nvPr/>
        </p:nvSpPr>
        <p:spPr>
          <a:xfrm>
            <a:off x="1000125" y="2837557"/>
            <a:ext cx="48579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Stable Performance:</a:t>
            </a:r>
            <a:r>
              <a:rPr lang="en-US" sz="142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Consistent ROC curves indicate strong predictive power</a:t>
            </a:r>
            <a:endParaRPr/>
          </a:p>
        </p:txBody>
      </p:sp>
      <p:pic>
        <p:nvPicPr>
          <p:cNvPr id="298" name="Google Shape;29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811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8518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 descr="A graph of a curv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4738" y="1803912"/>
            <a:ext cx="4645153" cy="398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/>
          <p:nvPr/>
        </p:nvSpPr>
        <p:spPr>
          <a:xfrm>
            <a:off x="295200" y="267745"/>
            <a:ext cx="116016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Sensitivity &amp; Specificity Breakdown</a:t>
            </a:r>
            <a:endParaRPr dirty="0"/>
          </a:p>
        </p:txBody>
      </p:sp>
      <p:sp>
        <p:nvSpPr>
          <p:cNvPr id="306" name="Google Shape;306;p31"/>
          <p:cNvSpPr/>
          <p:nvPr/>
        </p:nvSpPr>
        <p:spPr>
          <a:xfrm>
            <a:off x="5381625" y="2033041"/>
            <a:ext cx="1428900" cy="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1143000" y="2317725"/>
            <a:ext cx="985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Detailed performance metrics ensuring optimal fraud detection with minimal false positives</a:t>
            </a:r>
            <a:endParaRPr/>
          </a:p>
        </p:txBody>
      </p:sp>
      <p:pic>
        <p:nvPicPr>
          <p:cNvPr id="308" name="Google Shape;308;p31" descr="A table of numbers with text&#10;&#10;AI-generated content may be incorrect.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4126" y="2831899"/>
            <a:ext cx="9303900" cy="37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0175" y="2858541"/>
            <a:ext cx="9391650" cy="317346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5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Empowering Every Level</a:t>
            </a:r>
            <a:endParaRPr dirty="0"/>
          </a:p>
        </p:txBody>
      </p:sp>
      <p:sp>
        <p:nvSpPr>
          <p:cNvPr id="375" name="Google Shape;375;p35"/>
          <p:cNvSpPr txBox="1"/>
          <p:nvPr/>
        </p:nvSpPr>
        <p:spPr>
          <a:xfrm>
            <a:off x="1781175" y="2858541"/>
            <a:ext cx="8629650" cy="16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Transforming fraud detection through faster, accurate decisions with transparent and scalable machine learning.</a:t>
            </a:r>
            <a:endParaRPr dirty="0"/>
          </a:p>
        </p:txBody>
      </p:sp>
      <p:sp>
        <p:nvSpPr>
          <p:cNvPr id="376" name="Google Shape;376;p35"/>
          <p:cNvSpPr txBox="1"/>
          <p:nvPr/>
        </p:nvSpPr>
        <p:spPr>
          <a:xfrm>
            <a:off x="1400175" y="4824412"/>
            <a:ext cx="3105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— IEEE-CIS Fraud Detection Team</a:t>
            </a:r>
            <a:endParaRPr/>
          </a:p>
        </p:txBody>
      </p:sp>
      <p:sp>
        <p:nvSpPr>
          <p:cNvPr id="377" name="Google Shape;377;p35"/>
          <p:cNvSpPr txBox="1"/>
          <p:nvPr/>
        </p:nvSpPr>
        <p:spPr>
          <a:xfrm>
            <a:off x="1857375" y="1949946"/>
            <a:ext cx="90963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Leadership:</a:t>
            </a:r>
            <a:r>
              <a:rPr lang="en-US" sz="1425" b="0" i="0" u="none" strike="noStrike" cap="none" dirty="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Access real-time strategic metrics; Compliance and audit transparency; ROI and fraud loss reduction</a:t>
            </a:r>
            <a:endParaRPr dirty="0"/>
          </a:p>
        </p:txBody>
      </p:sp>
      <p:sp>
        <p:nvSpPr>
          <p:cNvPr id="378" name="Google Shape;378;p35"/>
          <p:cNvSpPr txBox="1"/>
          <p:nvPr/>
        </p:nvSpPr>
        <p:spPr>
          <a:xfrm>
            <a:off x="1304925" y="3144291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79" name="Google Shape;379;p35"/>
          <p:cNvSpPr txBox="1"/>
          <p:nvPr/>
        </p:nvSpPr>
        <p:spPr>
          <a:xfrm>
            <a:off x="10610850" y="4443416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pic>
        <p:nvPicPr>
          <p:cNvPr id="380" name="Google Shape;38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750" y="19975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/>
        </p:nvSpPr>
        <p:spPr>
          <a:xfrm>
            <a:off x="1068513" y="682527"/>
            <a:ext cx="97548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GB" sz="5400" dirty="0">
                <a:solidFill>
                  <a:srgbClr val="3366FF"/>
                </a:solidFill>
              </a:rPr>
              <a:t>Credit Risk Model Architecture</a:t>
            </a:r>
            <a:endParaRPr dirty="0">
              <a:solidFill>
                <a:srgbClr val="3366FF"/>
              </a:solidFill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1498031" y="1751331"/>
            <a:ext cx="9325333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9944"/>
              </a:lnSpc>
            </a:pPr>
            <a:r>
              <a:rPr lang="en-IN" sz="2800" dirty="0"/>
              <a:t>Interpretable and Robust</a:t>
            </a:r>
            <a:endParaRPr sz="2800" dirty="0"/>
          </a:p>
        </p:txBody>
      </p:sp>
      <p:sp>
        <p:nvSpPr>
          <p:cNvPr id="387" name="Google Shape;387;p36"/>
          <p:cNvSpPr/>
          <p:nvPr/>
        </p:nvSpPr>
        <p:spPr>
          <a:xfrm>
            <a:off x="5072818" y="1705612"/>
            <a:ext cx="2046364" cy="4571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74C55D-6E03-972F-BF33-A1D65D4BAA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26"/>
          <a:stretch>
            <a:fillRect/>
          </a:stretch>
        </p:blipFill>
        <p:spPr>
          <a:xfrm>
            <a:off x="3770740" y="2486470"/>
            <a:ext cx="4779913" cy="38424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EFB1CF14-9E27-AD4A-AA4A-CA0DAEDC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7" descr="image.png">
            <a:extLst>
              <a:ext uri="{FF2B5EF4-FFF2-40B4-BE49-F238E27FC236}">
                <a16:creationId xmlns:a16="http://schemas.microsoft.com/office/drawing/2014/main" id="{885C78D0-BC02-AE40-FFEA-300CAC39B6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94757"/>
            <a:ext cx="5229546" cy="5022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 descr="image.png">
            <a:extLst>
              <a:ext uri="{FF2B5EF4-FFF2-40B4-BE49-F238E27FC236}">
                <a16:creationId xmlns:a16="http://schemas.microsoft.com/office/drawing/2014/main" id="{2D771D9F-FEAC-9F3D-451B-737C5692AB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3542" y="1294757"/>
            <a:ext cx="5116958" cy="499174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>
            <a:extLst>
              <a:ext uri="{FF2B5EF4-FFF2-40B4-BE49-F238E27FC236}">
                <a16:creationId xmlns:a16="http://schemas.microsoft.com/office/drawing/2014/main" id="{DE872296-4FA8-D6AB-E030-249C9B767EFB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3150" b="1" dirty="0">
                <a:latin typeface="Poppins" panose="00000500000000000000" pitchFamily="2" charset="0"/>
                <a:cs typeface="Poppins" panose="00000500000000000000" pitchFamily="2" charset="0"/>
              </a:rPr>
              <a:t>Strategic Model Objectives</a:t>
            </a:r>
            <a:endParaRPr lang="en-GB" sz="31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8" name="Google Shape;398;p37">
            <a:extLst>
              <a:ext uri="{FF2B5EF4-FFF2-40B4-BE49-F238E27FC236}">
                <a16:creationId xmlns:a16="http://schemas.microsoft.com/office/drawing/2014/main" id="{6F4A6198-5CB7-7683-3AB2-5307F0D3ED47}"/>
              </a:ext>
            </a:extLst>
          </p:cNvPr>
          <p:cNvSpPr txBox="1"/>
          <p:nvPr/>
        </p:nvSpPr>
        <p:spPr>
          <a:xfrm>
            <a:off x="965771" y="1477629"/>
            <a:ext cx="4330285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PURE PREDICTIVE ACCURACY</a:t>
            </a:r>
            <a:endParaRPr sz="1100" dirty="0"/>
          </a:p>
        </p:txBody>
      </p:sp>
      <p:sp>
        <p:nvSpPr>
          <p:cNvPr id="400" name="Google Shape;400;p37">
            <a:extLst>
              <a:ext uri="{FF2B5EF4-FFF2-40B4-BE49-F238E27FC236}">
                <a16:creationId xmlns:a16="http://schemas.microsoft.com/office/drawing/2014/main" id="{32929658-2A40-4C53-DCB3-0442C7307024}"/>
              </a:ext>
            </a:extLst>
          </p:cNvPr>
          <p:cNvSpPr txBox="1"/>
          <p:nvPr/>
        </p:nvSpPr>
        <p:spPr>
          <a:xfrm>
            <a:off x="6752751" y="1493965"/>
            <a:ext cx="4473478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REAL-WORLD CREDIT SCORING</a:t>
            </a:r>
            <a:endParaRPr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C4570-2A1C-AEE7-5FD1-0D76798076C1}"/>
              </a:ext>
            </a:extLst>
          </p:cNvPr>
          <p:cNvSpPr txBox="1"/>
          <p:nvPr/>
        </p:nvSpPr>
        <p:spPr>
          <a:xfrm>
            <a:off x="756434" y="2916773"/>
            <a:ext cx="48596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Goal:</a:t>
            </a:r>
            <a:r>
              <a:rPr lang="en-GB" sz="1800" i="1" dirty="0"/>
              <a:t> Achieve the highest possible AUC score, purely to 'win' a data science competition.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Approach:</a:t>
            </a:r>
            <a:r>
              <a:rPr lang="en-GB" sz="1800" i="1" dirty="0"/>
              <a:t> Use powerful but less-interpretable models like </a:t>
            </a:r>
            <a:r>
              <a:rPr lang="en-GB" sz="1800" i="1" dirty="0" err="1"/>
              <a:t>XGBoost</a:t>
            </a:r>
            <a:r>
              <a:rPr lang="en-GB" sz="1800" i="1" dirty="0"/>
              <a:t>, </a:t>
            </a:r>
            <a:r>
              <a:rPr lang="en-GB" sz="1800" i="1" dirty="0" err="1"/>
              <a:t>LightGBM</a:t>
            </a:r>
            <a:r>
              <a:rPr lang="en-GB" sz="1800" i="1" dirty="0"/>
              <a:t>, or Random Forest.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Trade-Off:</a:t>
            </a:r>
            <a:r>
              <a:rPr lang="en-GB" sz="1800" i="1" dirty="0"/>
              <a:t> Sacrifices transparency for marginal performance gain.</a:t>
            </a:r>
            <a:endParaRPr lang="en-IN" sz="18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1B5C1-0735-EB72-54F5-256A5EA1DB91}"/>
              </a:ext>
            </a:extLst>
          </p:cNvPr>
          <p:cNvSpPr txBox="1"/>
          <p:nvPr/>
        </p:nvSpPr>
        <p:spPr>
          <a:xfrm>
            <a:off x="6752750" y="2937865"/>
            <a:ext cx="447347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Goal:</a:t>
            </a:r>
            <a:r>
              <a:rPr lang="en-GB" sz="1800" i="1" dirty="0"/>
              <a:t> Build a compliant, explainable, and interpretable model for use in a regulated financial institution.</a:t>
            </a:r>
            <a:endParaRPr lang="en-GB" sz="1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Approach:</a:t>
            </a:r>
            <a:r>
              <a:rPr lang="en-GB" sz="1800" i="1" dirty="0"/>
              <a:t> Use transparent models like </a:t>
            </a:r>
            <a:r>
              <a:rPr lang="en-GB" sz="1800" b="1" i="1" dirty="0"/>
              <a:t>Logistic Regression</a:t>
            </a:r>
            <a:r>
              <a:rPr lang="en-GB" sz="1800" i="1" dirty="0"/>
              <a:t> and </a:t>
            </a:r>
            <a:r>
              <a:rPr lang="en-GB" sz="1800" b="1" i="1" dirty="0"/>
              <a:t>Decision Trees</a:t>
            </a:r>
            <a:r>
              <a:rPr lang="en-GB" sz="1800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Trade-Off:</a:t>
            </a:r>
            <a:r>
              <a:rPr lang="en-GB" sz="1800" i="1" dirty="0"/>
              <a:t> Prioritizes </a:t>
            </a:r>
            <a:r>
              <a:rPr lang="en-GB" sz="1800" b="1" i="1" dirty="0"/>
              <a:t>Auditability</a:t>
            </a:r>
            <a:r>
              <a:rPr lang="en-GB" sz="1800" i="1" dirty="0"/>
              <a:t> and </a:t>
            </a:r>
            <a:r>
              <a:rPr lang="en-GB" sz="1800" b="1" i="1" dirty="0"/>
              <a:t>Trust</a:t>
            </a:r>
            <a:r>
              <a:rPr lang="en-GB" sz="1800" i="1" dirty="0"/>
              <a:t> over chasing the highest AUC score.</a:t>
            </a:r>
            <a:endParaRPr lang="en-GB" sz="1800" b="1" i="1" dirty="0"/>
          </a:p>
        </p:txBody>
      </p:sp>
    </p:spTree>
    <p:extLst>
      <p:ext uri="{BB962C8B-B14F-4D97-AF65-F5344CB8AC3E}">
        <p14:creationId xmlns:p14="http://schemas.microsoft.com/office/powerpoint/2010/main" val="4044678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52BDEB1B-4E1C-4C9F-0AAF-D65FC564A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7" descr="image.png">
            <a:extLst>
              <a:ext uri="{FF2B5EF4-FFF2-40B4-BE49-F238E27FC236}">
                <a16:creationId xmlns:a16="http://schemas.microsoft.com/office/drawing/2014/main" id="{B715DB3F-82BA-1FF6-26A8-B9558FD254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9" y="931427"/>
            <a:ext cx="3492549" cy="518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 descr="image.png">
            <a:extLst>
              <a:ext uri="{FF2B5EF4-FFF2-40B4-BE49-F238E27FC236}">
                <a16:creationId xmlns:a16="http://schemas.microsoft.com/office/drawing/2014/main" id="{1B484251-782F-D2D8-C110-25C946C661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4400" y="931427"/>
            <a:ext cx="3492549" cy="518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7" descr="image.png">
            <a:extLst>
              <a:ext uri="{FF2B5EF4-FFF2-40B4-BE49-F238E27FC236}">
                <a16:creationId xmlns:a16="http://schemas.microsoft.com/office/drawing/2014/main" id="{31DF9B27-B394-F2F8-DBFB-8A39FA2081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6104" y="931427"/>
            <a:ext cx="3492549" cy="518876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>
            <a:extLst>
              <a:ext uri="{FF2B5EF4-FFF2-40B4-BE49-F238E27FC236}">
                <a16:creationId xmlns:a16="http://schemas.microsoft.com/office/drawing/2014/main" id="{A633D1CB-0020-5581-80BB-CFE180BBFE81}"/>
              </a:ext>
            </a:extLst>
          </p:cNvPr>
          <p:cNvSpPr txBox="1"/>
          <p:nvPr/>
        </p:nvSpPr>
        <p:spPr>
          <a:xfrm>
            <a:off x="505528" y="29350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3150" b="1" dirty="0">
                <a:latin typeface="Poppins" panose="00000500000000000000" pitchFamily="2" charset="0"/>
                <a:cs typeface="Poppins" panose="00000500000000000000" pitchFamily="2" charset="0"/>
              </a:rPr>
              <a:t>Unified Data Strategy: The Enrichment Engine</a:t>
            </a:r>
          </a:p>
        </p:txBody>
      </p:sp>
      <p:sp>
        <p:nvSpPr>
          <p:cNvPr id="398" name="Google Shape;398;p37">
            <a:extLst>
              <a:ext uri="{FF2B5EF4-FFF2-40B4-BE49-F238E27FC236}">
                <a16:creationId xmlns:a16="http://schemas.microsoft.com/office/drawing/2014/main" id="{798AA9FB-D3EA-BDF3-B38E-C023F3D54619}"/>
              </a:ext>
            </a:extLst>
          </p:cNvPr>
          <p:cNvSpPr txBox="1"/>
          <p:nvPr/>
        </p:nvSpPr>
        <p:spPr>
          <a:xfrm>
            <a:off x="930999" y="1059787"/>
            <a:ext cx="2730549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endParaRPr dirty="0"/>
          </a:p>
        </p:txBody>
      </p:sp>
      <p:sp>
        <p:nvSpPr>
          <p:cNvPr id="400" name="Google Shape;400;p37">
            <a:extLst>
              <a:ext uri="{FF2B5EF4-FFF2-40B4-BE49-F238E27FC236}">
                <a16:creationId xmlns:a16="http://schemas.microsoft.com/office/drawing/2014/main" id="{3E3C16BA-B56D-BD1F-D71F-3939CC423EA5}"/>
              </a:ext>
            </a:extLst>
          </p:cNvPr>
          <p:cNvSpPr txBox="1"/>
          <p:nvPr/>
        </p:nvSpPr>
        <p:spPr>
          <a:xfrm>
            <a:off x="4444899" y="1061336"/>
            <a:ext cx="31115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ENGINEER</a:t>
            </a:r>
            <a:endParaRPr sz="1100" dirty="0"/>
          </a:p>
        </p:txBody>
      </p:sp>
      <p:sp>
        <p:nvSpPr>
          <p:cNvPr id="402" name="Google Shape;402;p37">
            <a:extLst>
              <a:ext uri="{FF2B5EF4-FFF2-40B4-BE49-F238E27FC236}">
                <a16:creationId xmlns:a16="http://schemas.microsoft.com/office/drawing/2014/main" id="{05EEC57B-E1BC-75B6-0277-5EDAD1D33D63}"/>
              </a:ext>
            </a:extLst>
          </p:cNvPr>
          <p:cNvSpPr txBox="1"/>
          <p:nvPr/>
        </p:nvSpPr>
        <p:spPr>
          <a:xfrm>
            <a:off x="8096603" y="1061336"/>
            <a:ext cx="3111549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OPTIMIZE</a:t>
            </a:r>
            <a:endParaRPr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3449F4-93AB-4B8B-6BF6-917C9562A431}"/>
              </a:ext>
            </a:extLst>
          </p:cNvPr>
          <p:cNvSpPr txBox="1"/>
          <p:nvPr/>
        </p:nvSpPr>
        <p:spPr>
          <a:xfrm>
            <a:off x="667819" y="1703175"/>
            <a:ext cx="325690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dirty="0"/>
              <a:t>6 Fragmented Datasets</a:t>
            </a:r>
            <a:endParaRPr lang="en-IN" sz="21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14165-8CE5-16D0-DF7F-316D5DAE9DCC}"/>
              </a:ext>
            </a:extLst>
          </p:cNvPr>
          <p:cNvSpPr txBox="1"/>
          <p:nvPr/>
        </p:nvSpPr>
        <p:spPr>
          <a:xfrm>
            <a:off x="4360854" y="1732744"/>
            <a:ext cx="32569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dirty="0"/>
              <a:t>Strategic Feature Engineering</a:t>
            </a:r>
            <a:endParaRPr lang="en-IN" sz="21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52C90-699E-3714-EA1E-8B12C063F262}"/>
              </a:ext>
            </a:extLst>
          </p:cNvPr>
          <p:cNvSpPr txBox="1"/>
          <p:nvPr/>
        </p:nvSpPr>
        <p:spPr>
          <a:xfrm>
            <a:off x="7906102" y="1732744"/>
            <a:ext cx="32569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100" b="1" dirty="0"/>
              <a:t>Pruning &amp; Memory Reduction</a:t>
            </a:r>
            <a:endParaRPr lang="en-IN" sz="21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20806-B95C-8EE1-7E9D-3B999CEACA0C}"/>
              </a:ext>
            </a:extLst>
          </p:cNvPr>
          <p:cNvSpPr txBox="1"/>
          <p:nvPr/>
        </p:nvSpPr>
        <p:spPr>
          <a:xfrm>
            <a:off x="636092" y="2118673"/>
            <a:ext cx="349254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i="1" dirty="0" err="1"/>
              <a:t>application_train</a:t>
            </a:r>
            <a:r>
              <a:rPr lang="en-IN" sz="1600" b="1" i="1" dirty="0"/>
              <a:t>/test</a:t>
            </a:r>
            <a:r>
              <a:rPr lang="en-IN" sz="1600" i="1" dirty="0"/>
              <a:t>                  → contains the current loan and client information</a:t>
            </a:r>
          </a:p>
          <a:p>
            <a:pPr lvl="0"/>
            <a:endParaRPr lang="en-IN" sz="800" i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bureau + </a:t>
            </a:r>
            <a:r>
              <a:rPr lang="en-IN" sz="1600" b="1" i="1" dirty="0" err="1"/>
              <a:t>bureau_balance</a:t>
            </a:r>
            <a:r>
              <a:rPr lang="en-IN" sz="1600" i="1" dirty="0"/>
              <a:t> → how the client behaved with other banks.</a:t>
            </a:r>
          </a:p>
          <a:p>
            <a:pPr lvl="0"/>
            <a:endParaRPr lang="en-IN" sz="800" i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i="1" dirty="0" err="1"/>
              <a:t>previous_application</a:t>
            </a:r>
            <a:r>
              <a:rPr lang="en-IN" sz="1600" i="1" dirty="0"/>
              <a:t> → is all about ‘Internal History’</a:t>
            </a:r>
          </a:p>
          <a:p>
            <a:pPr lvl="0"/>
            <a:endParaRPr lang="en-IN" sz="800" i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i="1" dirty="0" err="1"/>
              <a:t>POS_CASH_balance</a:t>
            </a:r>
            <a:r>
              <a:rPr lang="en-IN" sz="1600" b="1" i="1" dirty="0"/>
              <a:t>, </a:t>
            </a:r>
            <a:r>
              <a:rPr lang="en-IN" sz="1600" b="1" i="1" dirty="0" err="1"/>
              <a:t>credit_card_balance</a:t>
            </a:r>
            <a:r>
              <a:rPr lang="en-IN" sz="1600" b="1" i="1" dirty="0"/>
              <a:t>, </a:t>
            </a:r>
            <a:r>
              <a:rPr lang="en-IN" sz="1600" b="1" i="1" dirty="0" err="1"/>
              <a:t>installments_payments</a:t>
            </a:r>
            <a:r>
              <a:rPr lang="en-IN" sz="1600" b="1" i="1" dirty="0"/>
              <a:t> (Time-</a:t>
            </a:r>
            <a:r>
              <a:rPr lang="en-IN" sz="1600" b="1" i="1" dirty="0" err="1"/>
              <a:t>Seires</a:t>
            </a:r>
            <a:r>
              <a:rPr lang="en-IN" sz="1600" b="1" i="1" dirty="0"/>
              <a:t> Data)</a:t>
            </a:r>
            <a:r>
              <a:rPr lang="en-IN" sz="1600" i="1" dirty="0"/>
              <a:t> → how they managed different types of credit over time.</a:t>
            </a:r>
          </a:p>
          <a:p>
            <a:pPr lvl="0"/>
            <a:endParaRPr lang="en-IN" sz="16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A9372-C48E-D3EE-DBB6-9A49525E9653}"/>
              </a:ext>
            </a:extLst>
          </p:cNvPr>
          <p:cNvSpPr txBox="1"/>
          <p:nvPr/>
        </p:nvSpPr>
        <p:spPr>
          <a:xfrm>
            <a:off x="4254399" y="2449573"/>
            <a:ext cx="355424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Semantic Grouping:</a:t>
            </a:r>
            <a:r>
              <a:rPr lang="en-GB" sz="1800" i="1" dirty="0"/>
              <a:t> Identified </a:t>
            </a:r>
            <a:r>
              <a:rPr lang="en-GB" sz="1800" b="1" i="1" dirty="0"/>
              <a:t>50+ redundant features</a:t>
            </a:r>
            <a:r>
              <a:rPr lang="en-GB" sz="1800" i="1" dirty="0"/>
              <a:t> (triplets like _AVG, _MODE) for targeted pruning.</a:t>
            </a:r>
          </a:p>
          <a:p>
            <a:endParaRPr lang="en-GB" sz="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241 </a:t>
            </a:r>
            <a:r>
              <a:rPr lang="en-GB" sz="1800" b="1" i="1" dirty="0" err="1"/>
              <a:t>Behavioral</a:t>
            </a:r>
            <a:r>
              <a:rPr lang="en-GB" sz="1800" b="1" i="1" dirty="0"/>
              <a:t> Features</a:t>
            </a:r>
            <a:r>
              <a:rPr lang="en-GB" sz="1800" i="1" dirty="0"/>
              <a:t> created by aggregating the </a:t>
            </a:r>
          </a:p>
          <a:p>
            <a:r>
              <a:rPr lang="en-GB" sz="1800" i="1" dirty="0"/>
              <a:t>    six relational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Focused on high-impact variables (e.g., </a:t>
            </a:r>
            <a:r>
              <a:rPr lang="en-GB" sz="1800" b="1" i="1" dirty="0"/>
              <a:t>External Scores</a:t>
            </a:r>
            <a:r>
              <a:rPr lang="en-GB" sz="1800" i="1" dirty="0"/>
              <a:t>) as identified by grouping.</a:t>
            </a:r>
            <a:endParaRPr lang="en-GB" sz="1800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E86EE-A50B-6500-EA6C-B2D78B70229C}"/>
              </a:ext>
            </a:extLst>
          </p:cNvPr>
          <p:cNvSpPr txBox="1"/>
          <p:nvPr/>
        </p:nvSpPr>
        <p:spPr>
          <a:xfrm>
            <a:off x="7934398" y="2441839"/>
            <a:ext cx="356171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Reduced Features:</a:t>
            </a:r>
            <a:r>
              <a:rPr lang="en-GB" sz="1800" i="1" dirty="0"/>
              <a:t> Dropped redundant features, keeping only the most predictive statistic (e.g., _AVG).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Footprint reduced from </a:t>
            </a:r>
            <a:r>
              <a:rPr lang="en-GB" sz="1800" b="1" i="1" dirty="0"/>
              <a:t>286 MB </a:t>
            </a:r>
            <a:r>
              <a:rPr lang="en-GB" sz="1800" i="1" dirty="0"/>
              <a:t>to </a:t>
            </a:r>
            <a:r>
              <a:rPr lang="en-GB" sz="1800" b="1" i="1" dirty="0"/>
              <a:t>92 MB </a:t>
            </a:r>
            <a:r>
              <a:rPr lang="en-GB" sz="1800" i="1" dirty="0"/>
              <a:t>(67% reduction)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Directly leads to </a:t>
            </a:r>
            <a:r>
              <a:rPr lang="en-GB" sz="1800" b="1" i="1" dirty="0"/>
              <a:t>Faster Insights</a:t>
            </a:r>
            <a:r>
              <a:rPr lang="en-GB" sz="1800" i="1" dirty="0"/>
              <a:t>, </a:t>
            </a:r>
            <a:r>
              <a:rPr lang="en-GB" sz="1800" b="1" i="1" dirty="0"/>
              <a:t>Lower Compute Costs</a:t>
            </a:r>
            <a:r>
              <a:rPr lang="en-GB" sz="1800" i="1" dirty="0"/>
              <a:t>, and more stable models.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1121A9-5CC0-9160-1E13-52D8324252E3}"/>
              </a:ext>
            </a:extLst>
          </p:cNvPr>
          <p:cNvSpPr txBox="1"/>
          <p:nvPr/>
        </p:nvSpPr>
        <p:spPr>
          <a:xfrm>
            <a:off x="505528" y="6120189"/>
            <a:ext cx="10990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🎯 Outcome Summary:</a:t>
            </a:r>
            <a:r>
              <a:rPr lang="en-GB" sz="1800" dirty="0"/>
              <a:t> Our Unified Data Strategy resulted in </a:t>
            </a:r>
            <a:r>
              <a:rPr lang="en-GB" sz="1800" b="1" dirty="0"/>
              <a:t>Faster Insights</a:t>
            </a:r>
            <a:r>
              <a:rPr lang="en-GB" sz="1800" dirty="0"/>
              <a:t>, </a:t>
            </a:r>
            <a:r>
              <a:rPr lang="en-GB" sz="1800" b="1" dirty="0"/>
              <a:t>Lower Operating Costs</a:t>
            </a:r>
            <a:r>
              <a:rPr lang="en-GB" sz="1800" dirty="0"/>
              <a:t>, and a </a:t>
            </a:r>
            <a:r>
              <a:rPr lang="en-GB" sz="1800" b="1" dirty="0"/>
              <a:t>Deeper Understanding</a:t>
            </a:r>
            <a:r>
              <a:rPr lang="en-GB" sz="1800" dirty="0"/>
              <a:t> of every customer.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10182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16344"/>
            <a:ext cx="5000196" cy="390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9"/>
          <p:cNvSpPr txBox="1"/>
          <p:nvPr/>
        </p:nvSpPr>
        <p:spPr>
          <a:xfrm>
            <a:off x="236305" y="228357"/>
            <a:ext cx="12226247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Humanized Feature Engineering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(Turning Data into Meaning)</a:t>
            </a:r>
            <a:endParaRPr dirty="0"/>
          </a:p>
        </p:txBody>
      </p:sp>
      <p:pic>
        <p:nvPicPr>
          <p:cNvPr id="426" name="Google Shape;42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846" y="1767477"/>
            <a:ext cx="8001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9"/>
          <p:cNvSpPr txBox="1"/>
          <p:nvPr/>
        </p:nvSpPr>
        <p:spPr>
          <a:xfrm>
            <a:off x="1609629" y="1776609"/>
            <a:ext cx="43005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EMPLOYED_TO_AGE_RATIO</a:t>
            </a:r>
            <a:endParaRPr dirty="0"/>
          </a:p>
        </p:txBody>
      </p:sp>
      <p:sp>
        <p:nvSpPr>
          <p:cNvPr id="428" name="Google Shape;428;p39"/>
          <p:cNvSpPr txBox="1"/>
          <p:nvPr/>
        </p:nvSpPr>
        <p:spPr>
          <a:xfrm>
            <a:off x="1584483" y="2074893"/>
            <a:ext cx="4095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1600" i="1" dirty="0"/>
              <a:t>Career stability measuring </a:t>
            </a:r>
            <a:r>
              <a:rPr lang="en-GB" sz="1600" b="1" i="1" dirty="0"/>
              <a:t>long-term employment reliability</a:t>
            </a:r>
            <a:r>
              <a:rPr lang="en-GB" sz="1600" i="1" dirty="0"/>
              <a:t> relative to age.</a:t>
            </a:r>
            <a:endParaRPr i="1" dirty="0"/>
          </a:p>
        </p:txBody>
      </p:sp>
      <p:pic>
        <p:nvPicPr>
          <p:cNvPr id="429" name="Google Shape;429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7047" y="2983455"/>
            <a:ext cx="7429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9"/>
          <p:cNvSpPr txBox="1"/>
          <p:nvPr/>
        </p:nvSpPr>
        <p:spPr>
          <a:xfrm>
            <a:off x="1609629" y="2865620"/>
            <a:ext cx="396206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Outlier Flag </a:t>
            </a:r>
            <a:r>
              <a:rPr lang="en-US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(DAYS_EMPLOYED_ANOM)</a:t>
            </a:r>
            <a:endParaRPr dirty="0"/>
          </a:p>
        </p:txBody>
      </p:sp>
      <p:sp>
        <p:nvSpPr>
          <p:cNvPr id="431" name="Google Shape;431;p39"/>
          <p:cNvSpPr txBox="1"/>
          <p:nvPr/>
        </p:nvSpPr>
        <p:spPr>
          <a:xfrm>
            <a:off x="1618534" y="3260270"/>
            <a:ext cx="329179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1" dirty="0"/>
              <a:t>Risk signal </a:t>
            </a:r>
            <a:r>
              <a:rPr lang="en-IN" sz="1600" i="1" dirty="0"/>
              <a:t>flogging 365,243 errors as irregular employment patterns.</a:t>
            </a:r>
            <a:endParaRPr sz="1600" b="1" i="1" dirty="0"/>
          </a:p>
        </p:txBody>
      </p:sp>
      <p:pic>
        <p:nvPicPr>
          <p:cNvPr id="432" name="Google Shape;432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662" y="4127191"/>
            <a:ext cx="7429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 txBox="1"/>
          <p:nvPr/>
        </p:nvSpPr>
        <p:spPr>
          <a:xfrm>
            <a:off x="1618534" y="4096958"/>
            <a:ext cx="27949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1950" b="1" dirty="0">
                <a:solidFill>
                  <a:srgbClr val="1F2937"/>
                </a:solidFill>
                <a:latin typeface="Poppins"/>
                <a:cs typeface="Poppins"/>
              </a:rPr>
              <a:t>Outlier Isolation</a:t>
            </a:r>
            <a:endParaRPr sz="1950" b="1" dirty="0">
              <a:solidFill>
                <a:srgbClr val="1F2937"/>
              </a:solidFill>
              <a:latin typeface="Poppins"/>
              <a:cs typeface="Poppins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1653719" y="4404735"/>
            <a:ext cx="325660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1600" i="1" dirty="0">
                <a:solidFill>
                  <a:schemeClr val="tx1"/>
                </a:solidFill>
              </a:rPr>
              <a:t>The spike at 0 visually confirms the successful separation of the365,243 </a:t>
            </a:r>
            <a:r>
              <a:rPr lang="en-IN" sz="1600" i="1" dirty="0">
                <a:solidFill>
                  <a:schemeClr val="tx1"/>
                </a:solidFill>
              </a:rPr>
              <a:t>(unemployed/retired) outlier group.</a:t>
            </a:r>
            <a:endParaRPr sz="1600" i="1" dirty="0">
              <a:solidFill>
                <a:schemeClr val="tx1"/>
              </a:solidFill>
            </a:endParaRPr>
          </a:p>
        </p:txBody>
      </p:sp>
      <p:pic>
        <p:nvPicPr>
          <p:cNvPr id="435" name="Google Shape;435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189087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8466" y="31413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4537" y="429223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092C6F-C559-66BD-258E-7230A7C5C4CF}"/>
              </a:ext>
            </a:extLst>
          </p:cNvPr>
          <p:cNvSpPr/>
          <p:nvPr/>
        </p:nvSpPr>
        <p:spPr>
          <a:xfrm>
            <a:off x="571500" y="5496674"/>
            <a:ext cx="11049000" cy="88357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800" b="1" dirty="0"/>
              <a:t>💡 Our Core Philosophy:</a:t>
            </a:r>
            <a:r>
              <a:rPr lang="en-GB" sz="1800" dirty="0"/>
              <a:t> Numbers only matter if they represent real people accurately. This approach brings you a model that understands clients, not just credit files.</a:t>
            </a:r>
            <a:endParaRPr lang="en-IN" sz="18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F86BB50-3AC4-96F7-EA2C-2BE4CCFE9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1268116"/>
            <a:ext cx="5962650" cy="404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420">
          <a:extLst>
            <a:ext uri="{FF2B5EF4-FFF2-40B4-BE49-F238E27FC236}">
              <a16:creationId xmlns:a16="http://schemas.microsoft.com/office/drawing/2014/main" id="{F7328680-6F9B-DFF0-DA12-C6649D56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9" descr="image.png">
            <a:extLst>
              <a:ext uri="{FF2B5EF4-FFF2-40B4-BE49-F238E27FC236}">
                <a16:creationId xmlns:a16="http://schemas.microsoft.com/office/drawing/2014/main" id="{34025692-BE92-670D-4E0E-36EE8072E4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305" y="1470733"/>
            <a:ext cx="2905125" cy="5158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9" descr="image.png">
            <a:extLst>
              <a:ext uri="{FF2B5EF4-FFF2-40B4-BE49-F238E27FC236}">
                <a16:creationId xmlns:a16="http://schemas.microsoft.com/office/drawing/2014/main" id="{1337C096-25CA-6BD8-727A-CB32310BE1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8438" y="1488688"/>
            <a:ext cx="2905125" cy="514095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9">
            <a:extLst>
              <a:ext uri="{FF2B5EF4-FFF2-40B4-BE49-F238E27FC236}">
                <a16:creationId xmlns:a16="http://schemas.microsoft.com/office/drawing/2014/main" id="{C32FF30E-C810-A4F3-0EDB-F24C941F73E8}"/>
              </a:ext>
            </a:extLst>
          </p:cNvPr>
          <p:cNvSpPr txBox="1"/>
          <p:nvPr/>
        </p:nvSpPr>
        <p:spPr>
          <a:xfrm>
            <a:off x="236305" y="228357"/>
            <a:ext cx="12226247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Humanized Feature Engineering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(Turning Data into Meaning)</a:t>
            </a:r>
            <a:endParaRPr dirty="0"/>
          </a:p>
        </p:txBody>
      </p:sp>
      <p:sp>
        <p:nvSpPr>
          <p:cNvPr id="430" name="Google Shape;430;p39">
            <a:extLst>
              <a:ext uri="{FF2B5EF4-FFF2-40B4-BE49-F238E27FC236}">
                <a16:creationId xmlns:a16="http://schemas.microsoft.com/office/drawing/2014/main" id="{3E7A7E62-2DE6-CE7A-C139-BBDEBCEA4C93}"/>
              </a:ext>
            </a:extLst>
          </p:cNvPr>
          <p:cNvSpPr txBox="1"/>
          <p:nvPr/>
        </p:nvSpPr>
        <p:spPr>
          <a:xfrm>
            <a:off x="380786" y="1679524"/>
            <a:ext cx="246884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950" b="1" dirty="0">
                <a:solidFill>
                  <a:srgbClr val="1F2937"/>
                </a:solidFill>
                <a:latin typeface="Poppins"/>
                <a:cs typeface="Poppins"/>
              </a:rPr>
              <a:t>Retain High-Value Outliers</a:t>
            </a:r>
            <a:endParaRPr sz="1950" b="1" dirty="0">
              <a:solidFill>
                <a:srgbClr val="1F2937"/>
              </a:solidFill>
              <a:latin typeface="Poppins"/>
              <a:cs typeface="Poppins"/>
            </a:endParaRPr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3C771252-7ACD-726F-C78D-2C7254221E9F}"/>
              </a:ext>
            </a:extLst>
          </p:cNvPr>
          <p:cNvSpPr txBox="1"/>
          <p:nvPr/>
        </p:nvSpPr>
        <p:spPr>
          <a:xfrm>
            <a:off x="236305" y="2503868"/>
            <a:ext cx="2450172" cy="334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b="1" i="1" dirty="0"/>
              <a:t>Action:</a:t>
            </a:r>
            <a:r>
              <a:rPr lang="en-GB" sz="1600" i="1" dirty="0"/>
              <a:t> Log and power transformations </a:t>
            </a:r>
            <a:r>
              <a:rPr lang="en-GB" sz="1600" b="1" i="1" dirty="0"/>
              <a:t>stabilize outlier influence</a:t>
            </a:r>
            <a:r>
              <a:rPr lang="en-GB" sz="1600" i="1" dirty="0"/>
              <a:t> (Mathematical Control).</a:t>
            </a:r>
            <a:endParaRPr lang="en-GB" sz="16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i="1" dirty="0">
              <a:solidFill>
                <a:schemeClr val="tx1"/>
              </a:solidFill>
              <a:latin typeface="+mj-lt"/>
              <a:ea typeface="Lato"/>
              <a:cs typeface="Lato"/>
              <a:sym typeface="La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i="1" dirty="0"/>
              <a:t>Benefit:</a:t>
            </a:r>
            <a:r>
              <a:rPr lang="en-GB" sz="1600" i="1" dirty="0"/>
              <a:t> Preserves premium customers safely without penalizing high-income or exceptional borrowers.</a:t>
            </a:r>
            <a:endParaRPr lang="en-GB" sz="1600" b="1" i="1" dirty="0"/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1" dirty="0"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5F6434DB-3506-8732-35CC-5960D3E0C073}"/>
              </a:ext>
            </a:extLst>
          </p:cNvPr>
          <p:cNvSpPr txBox="1"/>
          <p:nvPr/>
        </p:nvSpPr>
        <p:spPr>
          <a:xfrm>
            <a:off x="3909403" y="1701137"/>
            <a:ext cx="27949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2000" b="1" dirty="0"/>
              <a:t>Fairness Achieved</a:t>
            </a:r>
            <a:endParaRPr sz="1950" b="1" dirty="0">
              <a:solidFill>
                <a:srgbClr val="1F2937"/>
              </a:solidFill>
              <a:latin typeface="Poppins"/>
              <a:cs typeface="Poppins"/>
            </a:endParaRPr>
          </a:p>
        </p:txBody>
      </p:sp>
      <p:sp>
        <p:nvSpPr>
          <p:cNvPr id="434" name="Google Shape;434;p39">
            <a:extLst>
              <a:ext uri="{FF2B5EF4-FFF2-40B4-BE49-F238E27FC236}">
                <a16:creationId xmlns:a16="http://schemas.microsoft.com/office/drawing/2014/main" id="{18C0D4D8-40A5-478D-B548-A268A399D16F}"/>
              </a:ext>
            </a:extLst>
          </p:cNvPr>
          <p:cNvSpPr txBox="1"/>
          <p:nvPr/>
        </p:nvSpPr>
        <p:spPr>
          <a:xfrm>
            <a:off x="3762375" y="2512198"/>
            <a:ext cx="2333625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b="1" i="1" dirty="0"/>
              <a:t>Ethic:</a:t>
            </a:r>
            <a:r>
              <a:rPr lang="en-GB" sz="1600" i="1" dirty="0"/>
              <a:t> Model ensures equitable treatment and </a:t>
            </a:r>
            <a:r>
              <a:rPr lang="en-GB" sz="1600" b="1" i="1" dirty="0"/>
              <a:t>unbiased outcomes</a:t>
            </a:r>
            <a:r>
              <a:rPr lang="en-GB" sz="1600" i="1" dirty="0"/>
              <a:t> across all client segments.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i="1" dirty="0"/>
              <a:t>Mechanism: </a:t>
            </a:r>
            <a:r>
              <a:rPr lang="en-GB" sz="1600" i="1" dirty="0">
                <a:solidFill>
                  <a:schemeClr val="tx1"/>
                </a:solidFill>
              </a:rPr>
              <a:t>Features reflect </a:t>
            </a:r>
            <a:r>
              <a:rPr lang="en-GB" sz="1600" b="1" i="1" dirty="0">
                <a:solidFill>
                  <a:schemeClr val="tx1"/>
                </a:solidFill>
              </a:rPr>
              <a:t>life situations</a:t>
            </a:r>
            <a:r>
              <a:rPr lang="en-GB" sz="1600" i="1" dirty="0">
                <a:solidFill>
                  <a:schemeClr val="tx1"/>
                </a:solidFill>
              </a:rPr>
              <a:t>, not merely statistical aggregates.</a:t>
            </a:r>
            <a:endParaRPr sz="1600" i="1" dirty="0">
              <a:solidFill>
                <a:schemeClr val="tx1"/>
              </a:solidFill>
            </a:endParaRPr>
          </a:p>
        </p:txBody>
      </p:sp>
      <p:pic>
        <p:nvPicPr>
          <p:cNvPr id="2" name="Google Shape;451;p40">
            <a:extLst>
              <a:ext uri="{FF2B5EF4-FFF2-40B4-BE49-F238E27FC236}">
                <a16:creationId xmlns:a16="http://schemas.microsoft.com/office/drawing/2014/main" id="{8751C8F0-9CC3-7B38-2618-EA12AA7ED6E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375" y="1561672"/>
            <a:ext cx="4291000" cy="50117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780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94758"/>
            <a:ext cx="3492549" cy="510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4549" y="1294758"/>
            <a:ext cx="3492549" cy="510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599" y="1294758"/>
            <a:ext cx="3492549" cy="510604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3150" b="1" dirty="0">
                <a:latin typeface="Poppins" panose="00000500000000000000" pitchFamily="2" charset="0"/>
                <a:cs typeface="Poppins" panose="00000500000000000000" pitchFamily="2" charset="0"/>
              </a:rPr>
              <a:t>Interpretable </a:t>
            </a:r>
            <a:r>
              <a:rPr lang="en-IN" sz="3150" b="1" dirty="0">
                <a:solidFill>
                  <a:srgbClr val="1F2937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Performance</a:t>
            </a:r>
            <a:r>
              <a:rPr lang="en-IN" sz="3150" b="1" dirty="0">
                <a:latin typeface="Poppins" panose="00000500000000000000" pitchFamily="2" charset="0"/>
                <a:cs typeface="Poppins" panose="00000500000000000000" pitchFamily="2" charset="0"/>
              </a:rPr>
              <a:t>: Stable and Compliant</a:t>
            </a:r>
            <a:endParaRPr sz="31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952500" y="1628133"/>
            <a:ext cx="273054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0.764</a:t>
            </a:r>
            <a:endParaRPr dirty="0"/>
          </a:p>
        </p:txBody>
      </p:sp>
      <p:sp>
        <p:nvSpPr>
          <p:cNvPr id="399" name="Google Shape;399;p37"/>
          <p:cNvSpPr txBox="1"/>
          <p:nvPr/>
        </p:nvSpPr>
        <p:spPr>
          <a:xfrm>
            <a:off x="952500" y="2561583"/>
            <a:ext cx="27305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Stable AUC Score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00" name="Google Shape;400;p37"/>
          <p:cNvSpPr txBox="1"/>
          <p:nvPr/>
        </p:nvSpPr>
        <p:spPr>
          <a:xfrm>
            <a:off x="4635549" y="1628133"/>
            <a:ext cx="2730549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401" name="Google Shape;401;p37"/>
          <p:cNvSpPr txBox="1"/>
          <p:nvPr/>
        </p:nvSpPr>
        <p:spPr>
          <a:xfrm>
            <a:off x="4635549" y="2561583"/>
            <a:ext cx="27305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Auditable</a:t>
            </a:r>
            <a:endParaRPr dirty="0"/>
          </a:p>
        </p:txBody>
      </p:sp>
      <p:sp>
        <p:nvSpPr>
          <p:cNvPr id="402" name="Google Shape;402;p37"/>
          <p:cNvSpPr txBox="1"/>
          <p:nvPr/>
        </p:nvSpPr>
        <p:spPr>
          <a:xfrm>
            <a:off x="8318599" y="1628133"/>
            <a:ext cx="2730549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241</a:t>
            </a:r>
            <a:endParaRPr/>
          </a:p>
        </p:txBody>
      </p:sp>
      <p:sp>
        <p:nvSpPr>
          <p:cNvPr id="403" name="Google Shape;403;p37"/>
          <p:cNvSpPr txBox="1"/>
          <p:nvPr/>
        </p:nvSpPr>
        <p:spPr>
          <a:xfrm>
            <a:off x="8318599" y="2561583"/>
            <a:ext cx="29209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Features Engineered</a:t>
            </a:r>
            <a:endParaRPr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4F420-C7B1-F7B4-E03A-75945A969BEC}"/>
              </a:ext>
            </a:extLst>
          </p:cNvPr>
          <p:cNvSpPr txBox="1"/>
          <p:nvPr/>
        </p:nvSpPr>
        <p:spPr>
          <a:xfrm>
            <a:off x="571500" y="3177957"/>
            <a:ext cx="349254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Performance Metric (AUC):</a:t>
            </a:r>
            <a:r>
              <a:rPr lang="en-GB" sz="1800" dirty="0"/>
              <a:t>.</a:t>
            </a:r>
            <a:r>
              <a:rPr lang="en-GB" sz="1800" i="1" dirty="0"/>
              <a:t> Demonstrated AUC stability above target.</a:t>
            </a:r>
            <a:endParaRPr lang="en-GB" sz="1800" dirty="0"/>
          </a:p>
          <a:p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Primary Technology: </a:t>
            </a:r>
          </a:p>
          <a:p>
            <a:r>
              <a:rPr lang="en-GB" sz="1800" i="1" dirty="0"/>
              <a:t>    Built on </a:t>
            </a:r>
            <a:r>
              <a:rPr lang="en-GB" sz="1800" b="1" i="1" dirty="0"/>
              <a:t>Logistic  </a:t>
            </a:r>
          </a:p>
          <a:p>
            <a:r>
              <a:rPr lang="en-GB" sz="1800" b="1" i="1" dirty="0"/>
              <a:t>    Regression</a:t>
            </a:r>
            <a:r>
              <a:rPr lang="en-GB" sz="1800" i="1" dirty="0"/>
              <a:t>, ensuring high </a:t>
            </a:r>
          </a:p>
          <a:p>
            <a:r>
              <a:rPr lang="en-GB" sz="1800" i="1" dirty="0"/>
              <a:t>    interpretability for regulatory </a:t>
            </a:r>
          </a:p>
          <a:p>
            <a:r>
              <a:rPr lang="en-GB" sz="1800" i="1" dirty="0"/>
              <a:t>    compliance.</a:t>
            </a:r>
          </a:p>
          <a:p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8F843-B60D-898D-EAF1-986A1E576B3D}"/>
              </a:ext>
            </a:extLst>
          </p:cNvPr>
          <p:cNvSpPr txBox="1"/>
          <p:nvPr/>
        </p:nvSpPr>
        <p:spPr>
          <a:xfrm>
            <a:off x="4254548" y="3170463"/>
            <a:ext cx="3364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Ensures </a:t>
            </a:r>
            <a:r>
              <a:rPr lang="en-GB" sz="1800" b="1" i="1" dirty="0"/>
              <a:t>full transparency </a:t>
            </a:r>
            <a:r>
              <a:rPr lang="en-GB" sz="1800" i="1" dirty="0"/>
              <a:t>and compliance.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Meets all </a:t>
            </a:r>
            <a:r>
              <a:rPr lang="en-GB" sz="1800" b="1" i="1" dirty="0"/>
              <a:t>regulatory compliance</a:t>
            </a:r>
            <a:r>
              <a:rPr lang="en-GB" sz="1800" i="1" dirty="0"/>
              <a:t> standards.</a:t>
            </a:r>
            <a:endParaRPr lang="en-IN" sz="18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CE7B3-E3CC-CE8B-C23A-D1EF3CE3B386}"/>
              </a:ext>
            </a:extLst>
          </p:cNvPr>
          <p:cNvSpPr txBox="1"/>
          <p:nvPr/>
        </p:nvSpPr>
        <p:spPr>
          <a:xfrm>
            <a:off x="8000292" y="3170463"/>
            <a:ext cx="30488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Reflects significant </a:t>
            </a:r>
            <a:r>
              <a:rPr lang="en-GB" sz="1800" b="1" i="1" dirty="0"/>
              <a:t>engineering effort</a:t>
            </a:r>
            <a:r>
              <a:rPr lang="en-GB" sz="1800" i="1" dirty="0"/>
              <a:t> and scope.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/>
              <a:t>Robust foundation for </a:t>
            </a:r>
            <a:r>
              <a:rPr lang="en-GB" sz="1800" b="1" i="1" dirty="0"/>
              <a:t>future model stability</a:t>
            </a:r>
            <a:r>
              <a:rPr lang="en-GB" sz="1800" i="1" dirty="0"/>
              <a:t>.</a:t>
            </a:r>
            <a:endParaRPr lang="en-IN" sz="1800" i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CE19E0-5209-9CBA-F484-1A0401285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462733"/>
              </p:ext>
            </p:extLst>
          </p:nvPr>
        </p:nvGraphicFramePr>
        <p:xfrm>
          <a:off x="1161288" y="2249590"/>
          <a:ext cx="9793224" cy="39866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635867">
                  <a:extLst>
                    <a:ext uri="{9D8B030D-6E8A-4147-A177-3AD203B41FA5}">
                      <a16:colId xmlns:a16="http://schemas.microsoft.com/office/drawing/2014/main" val="2220388137"/>
                    </a:ext>
                  </a:extLst>
                </a:gridCol>
                <a:gridCol w="5157357">
                  <a:extLst>
                    <a:ext uri="{9D8B030D-6E8A-4147-A177-3AD203B41FA5}">
                      <a16:colId xmlns:a16="http://schemas.microsoft.com/office/drawing/2014/main" val="1397325801"/>
                    </a:ext>
                  </a:extLst>
                </a:gridCol>
              </a:tblGrid>
              <a:tr h="6271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Data Processed: 27.4 Million Rows</a:t>
                      </a:r>
                      <a:endParaRPr lang="en-GB" sz="20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Operational Robustness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82694"/>
                  </a:ext>
                </a:extLst>
              </a:tr>
              <a:tr h="10115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INSTALLMENTS File:</a:t>
                      </a:r>
                      <a:r>
                        <a:rPr lang="en-IN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  <a:p>
                      <a:pPr rtl="0">
                        <a:buNone/>
                      </a:pPr>
                      <a:r>
                        <a:rPr lang="en-IN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13.6 Million Rows Processed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1. Unflawed Data Fusion:</a:t>
                      </a: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Model successfully merged 27.4 million historical rows with application data.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42682057"/>
                  </a:ext>
                </a:extLst>
              </a:tr>
              <a:tr h="11739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POS_CASH File:</a:t>
                      </a: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  <a:p>
                      <a:pPr rtl="0">
                        <a:buNone/>
                      </a:pP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10.0 Million Rows Processed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2. Reliability Under Load:</a:t>
                      </a: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Guarantees stability and minimal latency even when processing this high volume per refresh.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62249898"/>
                  </a:ext>
                </a:extLst>
              </a:tr>
              <a:tr h="11739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CREDIT_CARD File:</a:t>
                      </a: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  <a:p>
                      <a:pPr rtl="0">
                        <a:buNone/>
                      </a:pP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3.8 Million Rows Processed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3. Predictable Efficiency:</a:t>
                      </a: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+mj-lt"/>
                        </a:rPr>
                        <a:t> Directly justifies the Memory-Efficient Classifier and 67% memory reduction claimed earlier.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16954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0F13E2A-60D7-50FF-2D6A-8E31FD4D9472}"/>
              </a:ext>
            </a:extLst>
          </p:cNvPr>
          <p:cNvSpPr txBox="1"/>
          <p:nvPr/>
        </p:nvSpPr>
        <p:spPr>
          <a:xfrm>
            <a:off x="1161288" y="541429"/>
            <a:ext cx="97932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4400" b="1" dirty="0">
                <a:solidFill>
                  <a:srgbClr val="10B981"/>
                </a:solidFill>
                <a:latin typeface="Poppins"/>
                <a:cs typeface="Poppins"/>
              </a:rPr>
              <a:t>Proving Scalability: Performance Under Load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41736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A811F-233A-144E-142B-2251C30D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F4FB8C-7B51-C8E0-F709-214F4BF3D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297952"/>
              </p:ext>
            </p:extLst>
          </p:nvPr>
        </p:nvGraphicFramePr>
        <p:xfrm>
          <a:off x="1199388" y="1603931"/>
          <a:ext cx="9793224" cy="40520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635868">
                  <a:extLst>
                    <a:ext uri="{9D8B030D-6E8A-4147-A177-3AD203B41FA5}">
                      <a16:colId xmlns:a16="http://schemas.microsoft.com/office/drawing/2014/main" val="2220388137"/>
                    </a:ext>
                  </a:extLst>
                </a:gridCol>
                <a:gridCol w="5157356">
                  <a:extLst>
                    <a:ext uri="{9D8B030D-6E8A-4147-A177-3AD203B41FA5}">
                      <a16:colId xmlns:a16="http://schemas.microsoft.com/office/drawing/2014/main" val="1397325801"/>
                    </a:ext>
                  </a:extLst>
                </a:gridCol>
              </a:tblGrid>
              <a:tr h="627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+mj-lt"/>
                        </a:rPr>
                        <a:t>Definitive Performance Result</a:t>
                      </a:r>
                      <a:endParaRPr lang="en-IN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+mj-lt"/>
                        </a:rPr>
                        <a:t>Justification: The Stability Trade-off</a:t>
                      </a:r>
                      <a:endParaRPr lang="en-GB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782694"/>
                  </a:ext>
                </a:extLst>
              </a:tr>
              <a:tr h="10115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effectLst/>
                          <a:latin typeface="+mj-lt"/>
                        </a:rPr>
                        <a:t>Goal Achieved:</a:t>
                      </a:r>
                      <a:r>
                        <a:rPr lang="en-GB" sz="1600" dirty="0">
                          <a:latin typeface="+mj-lt"/>
                        </a:rPr>
                        <a:t> The final Logistic Regression model achieved an </a:t>
                      </a:r>
                      <a:r>
                        <a:rPr lang="en-GB" sz="1600" dirty="0">
                          <a:effectLst/>
                          <a:latin typeface="+mj-lt"/>
                        </a:rPr>
                        <a:t>AUC</a:t>
                      </a:r>
                      <a:r>
                        <a:rPr lang="en-GB" sz="1600" dirty="0">
                          <a:latin typeface="+mj-lt"/>
                        </a:rPr>
                        <a:t> </a:t>
                      </a:r>
                      <a:r>
                        <a:rPr lang="en-GB" sz="1600">
                          <a:latin typeface="+mj-lt"/>
                        </a:rPr>
                        <a:t>of </a:t>
                      </a:r>
                      <a:r>
                        <a:rPr lang="en-GB" sz="1600" b="1">
                          <a:effectLst/>
                          <a:latin typeface="+mj-lt"/>
                        </a:rPr>
                        <a:t>0.764</a:t>
                      </a:r>
                      <a:r>
                        <a:rPr lang="en-GB" sz="1600">
                          <a:latin typeface="+mj-lt"/>
                        </a:rPr>
                        <a:t>, </a:t>
                      </a:r>
                      <a:r>
                        <a:rPr lang="en-GB" sz="1600" dirty="0">
                          <a:latin typeface="+mj-lt"/>
                        </a:rPr>
                        <a:t>exceeding the original target threshold of </a:t>
                      </a:r>
                      <a:r>
                        <a:rPr lang="en-GB" sz="1600" dirty="0">
                          <a:effectLst/>
                          <a:latin typeface="+mj-lt"/>
                        </a:rPr>
                        <a:t>0.75</a:t>
                      </a:r>
                      <a:r>
                        <a:rPr lang="en-GB" sz="1600" dirty="0">
                          <a:latin typeface="+mj-lt"/>
                        </a:rPr>
                        <a:t> for model acceptance.</a:t>
                      </a:r>
                      <a:endParaRPr lang="en-IN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effectLst/>
                          <a:latin typeface="+mj-lt"/>
                        </a:rPr>
                        <a:t>The Operational Crisis:</a:t>
                      </a:r>
                      <a:r>
                        <a:rPr lang="en-GB" sz="1600" dirty="0">
                          <a:latin typeface="+mj-lt"/>
                        </a:rPr>
                        <a:t> The original </a:t>
                      </a:r>
                      <a:r>
                        <a:rPr lang="en-GB" sz="1600" dirty="0" err="1">
                          <a:latin typeface="+mj-lt"/>
                        </a:rPr>
                        <a:t>LogReg</a:t>
                      </a:r>
                      <a:r>
                        <a:rPr lang="en-GB" sz="1600" dirty="0">
                          <a:latin typeface="+mj-lt"/>
                        </a:rPr>
                        <a:t> model failed to train, resulting in </a:t>
                      </a:r>
                      <a:r>
                        <a:rPr lang="en-GB" sz="1600" b="1" dirty="0">
                          <a:effectLst/>
                          <a:latin typeface="+mj-lt"/>
                        </a:rPr>
                        <a:t>system crashes</a:t>
                      </a:r>
                      <a:r>
                        <a:rPr lang="en-GB" sz="1600" dirty="0">
                          <a:latin typeface="+mj-lt"/>
                        </a:rPr>
                        <a:t> under the load of </a:t>
                      </a:r>
                      <a:r>
                        <a:rPr lang="en-GB" sz="1600" dirty="0">
                          <a:effectLst/>
                          <a:latin typeface="+mj-lt"/>
                        </a:rPr>
                        <a:t>27.4</a:t>
                      </a:r>
                      <a:r>
                        <a:rPr lang="en-GB" sz="1600" dirty="0">
                          <a:latin typeface="+mj-lt"/>
                        </a:rPr>
                        <a:t> million rows.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42682057"/>
                  </a:ext>
                </a:extLst>
              </a:tr>
              <a:tr h="11739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effectLst/>
                          <a:latin typeface="+mj-lt"/>
                        </a:rPr>
                        <a:t>Callout:</a:t>
                      </a:r>
                      <a:r>
                        <a:rPr lang="en-GB" sz="1600" dirty="0">
                          <a:latin typeface="+mj-lt"/>
                        </a:rPr>
                        <a:t> This result confirms the entire six-file enrichment pipeline successfully delivered the </a:t>
                      </a:r>
                      <a:r>
                        <a:rPr lang="en-GB" sz="1600" b="1" dirty="0">
                          <a:effectLst/>
                          <a:latin typeface="+mj-lt"/>
                        </a:rPr>
                        <a:t>true, stable maximum performance</a:t>
                      </a:r>
                      <a:r>
                        <a:rPr lang="en-GB" sz="1600" dirty="0">
                          <a:latin typeface="+mj-lt"/>
                        </a:rPr>
                        <a:t> possible. 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effectLst/>
                          <a:latin typeface="+mj-lt"/>
                        </a:rPr>
                        <a:t>Strategic Mitigation:</a:t>
                      </a:r>
                      <a:r>
                        <a:rPr lang="en-GB" sz="1600" dirty="0">
                          <a:latin typeface="+mj-lt"/>
                        </a:rPr>
                        <a:t> We successfully switched to the </a:t>
                      </a:r>
                      <a:r>
                        <a:rPr lang="en-GB" sz="1600" b="1" dirty="0">
                          <a:effectLst/>
                          <a:latin typeface="+mj-lt"/>
                        </a:rPr>
                        <a:t>memory-efficient </a:t>
                      </a:r>
                      <a:r>
                        <a:rPr lang="en-GB" sz="1600" b="1" dirty="0" err="1">
                          <a:effectLst/>
                          <a:latin typeface="+mj-lt"/>
                        </a:rPr>
                        <a:t>SGDClassifier</a:t>
                      </a:r>
                      <a:r>
                        <a:rPr lang="en-GB" sz="1600" dirty="0">
                          <a:latin typeface="+mj-lt"/>
                        </a:rPr>
                        <a:t> to guarantee continuous training and production reliability.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62249898"/>
                  </a:ext>
                </a:extLst>
              </a:tr>
              <a:tr h="11739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latin typeface="+mj-lt"/>
                        </a:rPr>
                        <a:t>Final Trade-off:</a:t>
                      </a:r>
                      <a:r>
                        <a:rPr lang="en-GB" sz="1600" dirty="0">
                          <a:latin typeface="+mj-lt"/>
                        </a:rPr>
                        <a:t> Accuracy vs. Guaranteed Production Stability.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Risk Management:</a:t>
                      </a:r>
                      <a:r>
                        <a:rPr lang="en-GB" sz="1600" dirty="0">
                          <a:latin typeface="+mj-lt"/>
                        </a:rPr>
                        <a:t> We intentionally sacrificed </a:t>
                      </a: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0.005</a:t>
                      </a:r>
                      <a:r>
                        <a:rPr lang="en-GB" sz="1600" dirty="0">
                          <a:latin typeface="+mj-lt"/>
                        </a:rPr>
                        <a:t> in potential </a:t>
                      </a:r>
                      <a:r>
                        <a:rPr lang="en-GB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AUC</a:t>
                      </a:r>
                      <a:r>
                        <a:rPr lang="en-GB" sz="1600" dirty="0">
                          <a:latin typeface="+mj-lt"/>
                        </a:rPr>
                        <a:t> to 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guarantee memory safety</a:t>
                      </a:r>
                      <a:r>
                        <a:rPr lang="en-GB" sz="1600" dirty="0">
                          <a:latin typeface="+mj-lt"/>
                        </a:rPr>
                        <a:t> and 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sym typeface="Arial"/>
                        </a:rPr>
                        <a:t>production reliability</a:t>
                      </a:r>
                      <a:r>
                        <a:rPr lang="en-GB" sz="1600" dirty="0">
                          <a:latin typeface="+mj-lt"/>
                        </a:rPr>
                        <a:t> for the final model.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16954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70FA97-BE01-DAD7-6801-91FB71E37951}"/>
              </a:ext>
            </a:extLst>
          </p:cNvPr>
          <p:cNvSpPr txBox="1"/>
          <p:nvPr/>
        </p:nvSpPr>
        <p:spPr>
          <a:xfrm>
            <a:off x="1199388" y="157381"/>
            <a:ext cx="97932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4400" b="1" dirty="0">
                <a:solidFill>
                  <a:srgbClr val="10B981"/>
                </a:solidFill>
                <a:latin typeface="Poppins"/>
                <a:cs typeface="Poppins"/>
              </a:rPr>
              <a:t>Final Project Conclusion: Auditable Model Achieved</a:t>
            </a:r>
            <a:endParaRPr lang="en-US" sz="4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C7BF62-B0C7-2F41-25D6-1DE55D0641AB}"/>
              </a:ext>
            </a:extLst>
          </p:cNvPr>
          <p:cNvSpPr/>
          <p:nvPr/>
        </p:nvSpPr>
        <p:spPr>
          <a:xfrm>
            <a:off x="1199388" y="5879592"/>
            <a:ext cx="9793224" cy="70408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/>
              <a:t>✅ Final Conclusion:</a:t>
            </a:r>
            <a:r>
              <a:rPr lang="en-GB"/>
              <a:t> The project is now complete, delivering an </a:t>
            </a:r>
            <a:r>
              <a:rPr lang="en-GB" b="1"/>
              <a:t>accurate, auditable, and fully explainable</a:t>
            </a:r>
            <a:r>
              <a:rPr lang="en-GB"/>
              <a:t> credit risk model that is ready to be transitioned into a deployment-ready production pipeline.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472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300" y="1126033"/>
            <a:ext cx="3492549" cy="3876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21225" y="1126033"/>
            <a:ext cx="3492549" cy="3876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8" y="1126033"/>
            <a:ext cx="3492549" cy="386678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1"/>
          <p:cNvSpPr txBox="1"/>
          <p:nvPr/>
        </p:nvSpPr>
        <p:spPr>
          <a:xfrm>
            <a:off x="571500" y="525958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Pipeline Assurance (Ensuring Stability at Scale)</a:t>
            </a:r>
            <a:endParaRPr/>
          </a:p>
        </p:txBody>
      </p:sp>
      <p:pic>
        <p:nvPicPr>
          <p:cNvPr id="461" name="Google Shape;461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1287958"/>
            <a:ext cx="8572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1"/>
          <p:cNvSpPr txBox="1"/>
          <p:nvPr/>
        </p:nvSpPr>
        <p:spPr>
          <a:xfrm>
            <a:off x="707922" y="2354379"/>
            <a:ext cx="32133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Automated Data Quality</a:t>
            </a:r>
            <a:endParaRPr dirty="0"/>
          </a:p>
        </p:txBody>
      </p:sp>
      <p:sp>
        <p:nvSpPr>
          <p:cNvPr id="463" name="Google Shape;463;p41"/>
          <p:cNvSpPr txBox="1"/>
          <p:nvPr/>
        </p:nvSpPr>
        <p:spPr>
          <a:xfrm>
            <a:off x="707922" y="2783106"/>
            <a:ext cx="2921049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en-GB" sz="1600" i="1" dirty="0"/>
              <a:t>Standardizes every incoming batch via </a:t>
            </a:r>
            <a:r>
              <a:rPr lang="en-GB" sz="1600" b="1" i="1" dirty="0"/>
              <a:t>unified merge logic</a:t>
            </a:r>
            <a:r>
              <a:rPr lang="en-GB" sz="1600" i="1" dirty="0"/>
              <a:t>, guaranteeing input consistency and reliability.</a:t>
            </a:r>
            <a:endParaRPr i="1" dirty="0"/>
          </a:p>
        </p:txBody>
      </p:sp>
      <p:pic>
        <p:nvPicPr>
          <p:cNvPr id="464" name="Google Shape;464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75" y="1287957"/>
            <a:ext cx="7429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1"/>
          <p:cNvSpPr txBox="1"/>
          <p:nvPr/>
        </p:nvSpPr>
        <p:spPr>
          <a:xfrm>
            <a:off x="4533948" y="2340470"/>
            <a:ext cx="30671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Built-in Preprocessing</a:t>
            </a:r>
            <a:endParaRPr dirty="0"/>
          </a:p>
        </p:txBody>
      </p:sp>
      <p:sp>
        <p:nvSpPr>
          <p:cNvPr id="466" name="Google Shape;466;p41"/>
          <p:cNvSpPr txBox="1"/>
          <p:nvPr/>
        </p:nvSpPr>
        <p:spPr>
          <a:xfrm>
            <a:off x="4559537" y="2745283"/>
            <a:ext cx="292104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en-GB" sz="1600" b="1" i="1" dirty="0"/>
              <a:t>Scaling, imputation, and </a:t>
            </a:r>
            <a:r>
              <a:rPr lang="en-IN" sz="1600" b="1" i="1" dirty="0"/>
              <a:t>feature encoding </a:t>
            </a:r>
            <a:r>
              <a:rPr lang="en-IN" sz="1600" i="1" dirty="0"/>
              <a:t>are</a:t>
            </a:r>
            <a:r>
              <a:rPr lang="en-GB" sz="1600" i="1" dirty="0"/>
              <a:t> handled automatically within the scikit-learn Pipeline framework, removing manual intervention.</a:t>
            </a:r>
            <a:endParaRPr i="1" dirty="0"/>
          </a:p>
        </p:txBody>
      </p:sp>
      <p:pic>
        <p:nvPicPr>
          <p:cNvPr id="467" name="Google Shape;467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8498" y="1335393"/>
            <a:ext cx="7429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1"/>
          <p:cNvSpPr txBox="1"/>
          <p:nvPr/>
        </p:nvSpPr>
        <p:spPr>
          <a:xfrm>
            <a:off x="8267796" y="2354378"/>
            <a:ext cx="3067102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Memory-Efficient Classifier</a:t>
            </a:r>
            <a:endParaRPr dirty="0"/>
          </a:p>
        </p:txBody>
      </p:sp>
      <p:sp>
        <p:nvSpPr>
          <p:cNvPr id="469" name="Google Shape;469;p41"/>
          <p:cNvSpPr txBox="1"/>
          <p:nvPr/>
        </p:nvSpPr>
        <p:spPr>
          <a:xfrm>
            <a:off x="8278688" y="2963686"/>
            <a:ext cx="2921049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GB" sz="1600" b="1" i="1" dirty="0"/>
              <a:t>Logistic Regression</a:t>
            </a:r>
            <a:r>
              <a:rPr lang="en-GB" sz="1600" i="1" dirty="0"/>
              <a:t> ensures high interpretability and stability, minimizing resource usage while guaranteeing compliance.</a:t>
            </a:r>
            <a:endParaRPr sz="1600" i="1" dirty="0"/>
          </a:p>
        </p:txBody>
      </p:sp>
      <p:pic>
        <p:nvPicPr>
          <p:cNvPr id="470" name="Google Shape;470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7438" y="146417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6823" y="14464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31373" y="151160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A8A2E6-B5C9-1676-336B-2A3790E5CFBC}"/>
              </a:ext>
            </a:extLst>
          </p:cNvPr>
          <p:cNvSpPr/>
          <p:nvPr/>
        </p:nvSpPr>
        <p:spPr>
          <a:xfrm>
            <a:off x="569825" y="5300393"/>
            <a:ext cx="11052347" cy="10376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800" b="1" dirty="0"/>
              <a:t>🎯</a:t>
            </a:r>
            <a:r>
              <a:rPr lang="en-GB" sz="1800" dirty="0"/>
              <a:t>The assured pipeline guarantees </a:t>
            </a:r>
            <a:r>
              <a:rPr lang="en-GB" sz="1800" b="1" dirty="0"/>
              <a:t>Zero Downtime</a:t>
            </a:r>
            <a:r>
              <a:rPr lang="en-GB" sz="1800" dirty="0"/>
              <a:t>, </a:t>
            </a:r>
            <a:r>
              <a:rPr lang="en-GB" sz="1800" b="1" dirty="0"/>
              <a:t>Zero Data Drift</a:t>
            </a:r>
            <a:r>
              <a:rPr lang="en-GB" sz="1800" dirty="0"/>
              <a:t>, and </a:t>
            </a:r>
            <a:r>
              <a:rPr lang="en-GB" sz="1800" b="1" dirty="0"/>
              <a:t>Consistent Performance</a:t>
            </a:r>
            <a:r>
              <a:rPr lang="en-GB" sz="1800" dirty="0"/>
              <a:t> every single day for the teams.</a:t>
            </a:r>
            <a:endParaRPr lang="en-IN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5646"/>
            <a:ext cx="3492549" cy="384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835646"/>
            <a:ext cx="3492549" cy="384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835646"/>
            <a:ext cx="3492549" cy="384021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Real-Time Scoring API</a:t>
            </a:r>
            <a:endParaRPr dirty="0"/>
          </a:p>
        </p:txBody>
      </p:sp>
      <p:sp>
        <p:nvSpPr>
          <p:cNvPr id="481" name="Google Shape;481;p42"/>
          <p:cNvSpPr txBox="1"/>
          <p:nvPr/>
        </p:nvSpPr>
        <p:spPr>
          <a:xfrm>
            <a:off x="441424" y="5866358"/>
            <a:ext cx="1064110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29"/>
              </a:lnSpc>
            </a:pPr>
            <a:r>
              <a:rPr lang="en-IN" sz="1800" dirty="0"/>
              <a:t>🔒</a:t>
            </a:r>
            <a:r>
              <a:rPr lang="en-US" sz="1800" b="0" i="1" u="none" strike="noStrike" cap="none" dirty="0">
                <a:solidFill>
                  <a:srgbClr val="00B050"/>
                </a:solidFill>
                <a:latin typeface="Lato"/>
                <a:ea typeface="Lato"/>
                <a:cs typeface="Lato"/>
                <a:sym typeface="Lato"/>
              </a:rPr>
              <a:t>Business users access insights instantly without needing to run code or understand the backend. </a:t>
            </a:r>
            <a:endParaRPr sz="1800" dirty="0">
              <a:solidFill>
                <a:srgbClr val="00B050"/>
              </a:solidFill>
            </a:endParaRPr>
          </a:p>
        </p:txBody>
      </p:sp>
      <p:pic>
        <p:nvPicPr>
          <p:cNvPr id="482" name="Google Shape;482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121396"/>
            <a:ext cx="7429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2"/>
          <p:cNvSpPr txBox="1"/>
          <p:nvPr/>
        </p:nvSpPr>
        <p:spPr>
          <a:xfrm>
            <a:off x="857250" y="3121521"/>
            <a:ext cx="266033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Secure Deployment</a:t>
            </a:r>
            <a:endParaRPr/>
          </a:p>
        </p:txBody>
      </p:sp>
      <p:sp>
        <p:nvSpPr>
          <p:cNvPr id="484" name="Google Shape;484;p42"/>
          <p:cNvSpPr txBox="1"/>
          <p:nvPr/>
        </p:nvSpPr>
        <p:spPr>
          <a:xfrm>
            <a:off x="857250" y="3750171"/>
            <a:ext cx="2921049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 dirty="0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Flask API Service provides instant scoring for every applicant in a secure environment.</a:t>
            </a:r>
            <a:endParaRPr sz="1600" i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85" name="Google Shape;485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549" y="2121396"/>
            <a:ext cx="8572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2"/>
          <p:cNvSpPr txBox="1"/>
          <p:nvPr/>
        </p:nvSpPr>
        <p:spPr>
          <a:xfrm>
            <a:off x="4635549" y="3121521"/>
            <a:ext cx="262032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End-to-End Testing</a:t>
            </a:r>
            <a:endParaRPr/>
          </a:p>
        </p:txBody>
      </p:sp>
      <p:sp>
        <p:nvSpPr>
          <p:cNvPr id="487" name="Google Shape;487;p42"/>
          <p:cNvSpPr txBox="1"/>
          <p:nvPr/>
        </p:nvSpPr>
        <p:spPr>
          <a:xfrm>
            <a:off x="4635549" y="3750171"/>
            <a:ext cx="2921049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1" u="none" strike="noStrike" cap="none" dirty="0">
                <a:solidFill>
                  <a:schemeClr val="tx1"/>
                </a:solidFill>
                <a:latin typeface="+mj-lt"/>
                <a:ea typeface="Lato"/>
                <a:cs typeface="Lato"/>
                <a:sym typeface="Lato"/>
              </a:rPr>
              <a:t>Verified via `test_api.py` for accuracy and uptime, confirming production readiness.</a:t>
            </a:r>
            <a:endParaRPr lang="en-GB" sz="1600" i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88" name="Google Shape;488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13849" y="2121396"/>
            <a:ext cx="7429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2"/>
          <p:cNvSpPr txBox="1"/>
          <p:nvPr/>
        </p:nvSpPr>
        <p:spPr>
          <a:xfrm>
            <a:off x="8413849" y="3121521"/>
            <a:ext cx="222027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Easy Integration</a:t>
            </a:r>
            <a:endParaRPr/>
          </a:p>
        </p:txBody>
      </p:sp>
      <p:sp>
        <p:nvSpPr>
          <p:cNvPr id="490" name="Google Shape;490;p42"/>
          <p:cNvSpPr txBox="1"/>
          <p:nvPr/>
        </p:nvSpPr>
        <p:spPr>
          <a:xfrm>
            <a:off x="8413849" y="3750171"/>
            <a:ext cx="292104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Connects seamlessly with existing systems via RESTful endpoints.</a:t>
            </a:r>
            <a:endParaRPr sz="1600" i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91" name="Google Shape;491;p4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228332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8424" y="228332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6724" y="2283321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476">
          <a:extLst>
            <a:ext uri="{FF2B5EF4-FFF2-40B4-BE49-F238E27FC236}">
              <a16:creationId xmlns:a16="http://schemas.microsoft.com/office/drawing/2014/main" id="{497244A9-18C0-C575-24C6-FA84C7C0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21E06-AE14-8E95-E4A9-CD8E4DEF2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567"/>
            <a:ext cx="12192000" cy="677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42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476">
          <a:extLst>
            <a:ext uri="{FF2B5EF4-FFF2-40B4-BE49-F238E27FC236}">
              <a16:creationId xmlns:a16="http://schemas.microsoft.com/office/drawing/2014/main" id="{6B508814-844D-0225-A70B-1FD93277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42" descr="image.png">
            <a:extLst>
              <a:ext uri="{FF2B5EF4-FFF2-40B4-BE49-F238E27FC236}">
                <a16:creationId xmlns:a16="http://schemas.microsoft.com/office/drawing/2014/main" id="{EBD4410C-F61F-5C80-EE1A-5C63B79C39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7132" y="1458930"/>
            <a:ext cx="4220388" cy="499324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2">
            <a:extLst>
              <a:ext uri="{FF2B5EF4-FFF2-40B4-BE49-F238E27FC236}">
                <a16:creationId xmlns:a16="http://schemas.microsoft.com/office/drawing/2014/main" id="{3A95B5F9-DB16-BCD7-769C-3ECC3AE8B2AD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3150" b="1" dirty="0">
                <a:solidFill>
                  <a:srgbClr val="1F2937"/>
                </a:solidFill>
                <a:latin typeface="Poppins"/>
                <a:cs typeface="Poppins"/>
              </a:rPr>
              <a:t>💻 </a:t>
            </a:r>
            <a:r>
              <a:rPr lang="en-GB" sz="3150" b="1" dirty="0" err="1">
                <a:solidFill>
                  <a:srgbClr val="1F2937"/>
                </a:solidFill>
                <a:latin typeface="Poppins"/>
                <a:cs typeface="Poppins"/>
              </a:rPr>
              <a:t>Streamlit</a:t>
            </a:r>
            <a:r>
              <a:rPr lang="en-GB" sz="3150" b="1" dirty="0">
                <a:solidFill>
                  <a:srgbClr val="1F2937"/>
                </a:solidFill>
                <a:latin typeface="Poppins"/>
                <a:cs typeface="Poppins"/>
              </a:rPr>
              <a:t> Frontend &amp; Live System Access</a:t>
            </a:r>
            <a:endParaRPr sz="3150" b="1" dirty="0">
              <a:solidFill>
                <a:srgbClr val="1F2937"/>
              </a:solidFill>
              <a:latin typeface="Poppins"/>
              <a:cs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78FA86-54F0-1829-FCE5-886C45C41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80" y="1458930"/>
            <a:ext cx="7329872" cy="49932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3738D0-1FB4-3168-4E83-1A99B0973329}"/>
              </a:ext>
            </a:extLst>
          </p:cNvPr>
          <p:cNvSpPr txBox="1"/>
          <p:nvPr/>
        </p:nvSpPr>
        <p:spPr>
          <a:xfrm>
            <a:off x="7717131" y="1782246"/>
            <a:ext cx="4353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/>
              <a:t>🌐 </a:t>
            </a:r>
            <a:r>
              <a:rPr lang="en-IN" sz="2600" b="1" dirty="0">
                <a:solidFill>
                  <a:srgbClr val="1F2937"/>
                </a:solidFill>
                <a:latin typeface="Poppins"/>
                <a:cs typeface="Poppins"/>
              </a:rPr>
              <a:t>Live System Access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DDE8E-3308-CD6D-061E-4D7AA0BF1B43}"/>
              </a:ext>
            </a:extLst>
          </p:cNvPr>
          <p:cNvSpPr txBox="1"/>
          <p:nvPr/>
        </p:nvSpPr>
        <p:spPr>
          <a:xfrm>
            <a:off x="8128098" y="2536448"/>
            <a:ext cx="357416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/>
              <a:t>Frontend Demo </a:t>
            </a:r>
          </a:p>
          <a:p>
            <a:endParaRPr lang="en-IN" sz="700" b="1" i="1" dirty="0"/>
          </a:p>
          <a:p>
            <a:r>
              <a:rPr lang="en-GB" sz="1800" u="sng" dirty="0">
                <a:hlinkClick r:id="rId5"/>
              </a:rPr>
              <a:t>https://credit-risk-ui-670590024965.us-central1.run.app</a:t>
            </a:r>
            <a:endParaRPr lang="en-IN" sz="2400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FC68F-6843-5727-5D77-4EC052300378}"/>
              </a:ext>
            </a:extLst>
          </p:cNvPr>
          <p:cNvSpPr txBox="1"/>
          <p:nvPr/>
        </p:nvSpPr>
        <p:spPr>
          <a:xfrm>
            <a:off x="8128098" y="4179916"/>
            <a:ext cx="357416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/>
              <a:t>Backend API Endpoint</a:t>
            </a:r>
          </a:p>
          <a:p>
            <a:r>
              <a:rPr lang="en-GB" sz="1800" u="sng" dirty="0">
                <a:hlinkClick r:id="rId6"/>
              </a:rPr>
              <a:t>https://integrated-risk-api-670590024965.us-central1.run.app</a:t>
            </a:r>
            <a:endParaRPr lang="en-IN" sz="2800" b="1" i="1" dirty="0"/>
          </a:p>
        </p:txBody>
      </p:sp>
    </p:spTree>
    <p:extLst>
      <p:ext uri="{BB962C8B-B14F-4D97-AF65-F5344CB8AC3E}">
        <p14:creationId xmlns:p14="http://schemas.microsoft.com/office/powerpoint/2010/main" val="1607980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A450D684-6FE3-210F-1522-4B896C98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7" descr="image.png">
            <a:extLst>
              <a:ext uri="{FF2B5EF4-FFF2-40B4-BE49-F238E27FC236}">
                <a16:creationId xmlns:a16="http://schemas.microsoft.com/office/drawing/2014/main" id="{3495B3BA-0EFF-23C4-9729-2C53F4D69A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33846"/>
            <a:ext cx="5229546" cy="5654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 descr="image.png">
            <a:extLst>
              <a:ext uri="{FF2B5EF4-FFF2-40B4-BE49-F238E27FC236}">
                <a16:creationId xmlns:a16="http://schemas.microsoft.com/office/drawing/2014/main" id="{C6DF43A3-BB89-9A02-BD94-B5981F3730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3542" y="1033846"/>
            <a:ext cx="5116958" cy="565462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>
            <a:extLst>
              <a:ext uri="{FF2B5EF4-FFF2-40B4-BE49-F238E27FC236}">
                <a16:creationId xmlns:a16="http://schemas.microsoft.com/office/drawing/2014/main" id="{2A9D9B90-D5EF-0A41-7E73-E1FBCB96B0C0}"/>
              </a:ext>
            </a:extLst>
          </p:cNvPr>
          <p:cNvSpPr txBox="1"/>
          <p:nvPr/>
        </p:nvSpPr>
        <p:spPr>
          <a:xfrm>
            <a:off x="571500" y="387372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3150" b="1" dirty="0">
                <a:latin typeface="Poppins" panose="00000500000000000000" pitchFamily="2" charset="0"/>
                <a:cs typeface="Poppins" panose="00000500000000000000" pitchFamily="2" charset="0"/>
              </a:rPr>
              <a:t>🚀 Future Monitoring &amp; </a:t>
            </a:r>
            <a:r>
              <a:rPr lang="en-GB" sz="3150" b="1" dirty="0" err="1">
                <a:latin typeface="Poppins" panose="00000500000000000000" pitchFamily="2" charset="0"/>
                <a:cs typeface="Poppins" panose="00000500000000000000" pitchFamily="2" charset="0"/>
              </a:rPr>
              <a:t>MLOps</a:t>
            </a:r>
            <a:r>
              <a:rPr lang="en-GB" sz="3150" b="1" dirty="0">
                <a:latin typeface="Poppins" panose="00000500000000000000" pitchFamily="2" charset="0"/>
                <a:cs typeface="Poppins" panose="00000500000000000000" pitchFamily="2" charset="0"/>
              </a:rPr>
              <a:t> Plan</a:t>
            </a:r>
          </a:p>
        </p:txBody>
      </p:sp>
      <p:sp>
        <p:nvSpPr>
          <p:cNvPr id="398" name="Google Shape;398;p37">
            <a:extLst>
              <a:ext uri="{FF2B5EF4-FFF2-40B4-BE49-F238E27FC236}">
                <a16:creationId xmlns:a16="http://schemas.microsoft.com/office/drawing/2014/main" id="{25FC6DCD-DE1B-248D-D59A-136D21D06165}"/>
              </a:ext>
            </a:extLst>
          </p:cNvPr>
          <p:cNvSpPr txBox="1"/>
          <p:nvPr/>
        </p:nvSpPr>
        <p:spPr>
          <a:xfrm>
            <a:off x="914400" y="1294757"/>
            <a:ext cx="433028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0000"/>
              </a:lnSpc>
            </a:pPr>
            <a:r>
              <a:rPr lang="en-IN" sz="3200" b="1" dirty="0">
                <a:solidFill>
                  <a:srgbClr val="3B82F6"/>
                </a:solidFill>
                <a:latin typeface="Poppins"/>
                <a:cs typeface="Poppins"/>
              </a:rPr>
              <a:t>⚙️ Performance &amp; Stability</a:t>
            </a:r>
            <a:endParaRPr sz="3200" b="1" dirty="0">
              <a:solidFill>
                <a:srgbClr val="3B82F6"/>
              </a:solidFill>
              <a:latin typeface="Poppins"/>
              <a:cs typeface="Poppins"/>
            </a:endParaRPr>
          </a:p>
        </p:txBody>
      </p:sp>
      <p:sp>
        <p:nvSpPr>
          <p:cNvPr id="400" name="Google Shape;400;p37">
            <a:extLst>
              <a:ext uri="{FF2B5EF4-FFF2-40B4-BE49-F238E27FC236}">
                <a16:creationId xmlns:a16="http://schemas.microsoft.com/office/drawing/2014/main" id="{4B906AD1-0936-05C4-F8C2-F8AAC245D662}"/>
              </a:ext>
            </a:extLst>
          </p:cNvPr>
          <p:cNvSpPr txBox="1"/>
          <p:nvPr/>
        </p:nvSpPr>
        <p:spPr>
          <a:xfrm>
            <a:off x="6752750" y="1294757"/>
            <a:ext cx="4867749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0000"/>
              </a:lnSpc>
            </a:pPr>
            <a:r>
              <a:rPr lang="en-GB" sz="3200" b="1" dirty="0">
                <a:solidFill>
                  <a:srgbClr val="10B981"/>
                </a:solidFill>
                <a:latin typeface="Poppins"/>
                <a:cs typeface="Poppins"/>
              </a:rPr>
              <a:t>🛡️ Model Accuracy </a:t>
            </a:r>
          </a:p>
          <a:p>
            <a:pPr lvl="0" algn="ctr">
              <a:lnSpc>
                <a:spcPct val="110000"/>
              </a:lnSpc>
            </a:pPr>
            <a:r>
              <a:rPr lang="en-GB" sz="3200" b="1" dirty="0">
                <a:solidFill>
                  <a:srgbClr val="10B981"/>
                </a:solidFill>
                <a:latin typeface="Poppins"/>
                <a:cs typeface="Poppins"/>
              </a:rPr>
              <a:t>&amp; Long-Term Health</a:t>
            </a:r>
            <a:endParaRPr sz="3200" b="1" dirty="0">
              <a:solidFill>
                <a:srgbClr val="10B981"/>
              </a:solidFill>
              <a:latin typeface="Poppins"/>
              <a:cs typeface="Poppi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6F05B5-7116-44CF-F2BC-2531170E7BE0}"/>
              </a:ext>
            </a:extLst>
          </p:cNvPr>
          <p:cNvSpPr txBox="1"/>
          <p:nvPr/>
        </p:nvSpPr>
        <p:spPr>
          <a:xfrm>
            <a:off x="756434" y="2347912"/>
            <a:ext cx="48596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Goal:</a:t>
            </a:r>
            <a:r>
              <a:rPr lang="en-GB" sz="1800" i="1" dirty="0"/>
              <a:t> Our top priority is fixing the current performance issue. The service is slow because it's spending too much time waiting for the hard drive (</a:t>
            </a:r>
            <a:r>
              <a:rPr lang="en-GB" sz="1800" b="1" i="1" dirty="0"/>
              <a:t>I/O Bottleneck</a:t>
            </a:r>
            <a:r>
              <a:rPr lang="en-GB" sz="1800" i="1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The Fix:</a:t>
            </a:r>
            <a:r>
              <a:rPr lang="en-GB" sz="1800" i="1" dirty="0"/>
              <a:t> We will </a:t>
            </a:r>
            <a:r>
              <a:rPr lang="en-GB" sz="1800" b="1" i="1" dirty="0"/>
              <a:t>refactor the architecture</a:t>
            </a:r>
            <a:r>
              <a:rPr lang="en-GB" sz="1800" i="1" dirty="0"/>
              <a:t> to pre-load all large supplementary data files (like Bureau history) into </a:t>
            </a:r>
            <a:r>
              <a:rPr lang="en-GB" sz="1800" b="1" i="1" dirty="0"/>
              <a:t>fast memory</a:t>
            </a:r>
            <a:r>
              <a:rPr lang="en-GB" sz="1800" i="1" dirty="0"/>
              <a:t> during service startup.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The Result:</a:t>
            </a:r>
            <a:r>
              <a:rPr lang="en-GB" sz="1800" i="1" dirty="0"/>
              <a:t> This eliminates the wait time, guaranteeing </a:t>
            </a:r>
            <a:r>
              <a:rPr lang="en-GB" sz="1800" b="1" i="1" dirty="0"/>
              <a:t>sub-5-second, real-time responses</a:t>
            </a:r>
            <a:r>
              <a:rPr lang="en-GB" sz="1800" i="1" dirty="0"/>
              <a:t> necessary for financial decision-making, resolving the latency issue permanently.</a:t>
            </a:r>
            <a:endParaRPr lang="en-IN" sz="18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059F7-3CF9-7FA0-9A97-2B1AD323DD98}"/>
              </a:ext>
            </a:extLst>
          </p:cNvPr>
          <p:cNvSpPr txBox="1"/>
          <p:nvPr/>
        </p:nvSpPr>
        <p:spPr>
          <a:xfrm>
            <a:off x="6752749" y="2347912"/>
            <a:ext cx="48677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Goal:</a:t>
            </a:r>
            <a:r>
              <a:rPr lang="en-GB" sz="1800" i="1" dirty="0"/>
              <a:t> We have a plan to ensure our scoring models remain accurate over the long term, preventing hidden financial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Accuracy Check:</a:t>
            </a:r>
            <a:r>
              <a:rPr lang="en-GB" sz="1800" i="1" dirty="0"/>
              <a:t> We will implement monitoring for </a:t>
            </a:r>
            <a:r>
              <a:rPr lang="en-GB" sz="1800" b="1" i="1" dirty="0"/>
              <a:t>Data Drift</a:t>
            </a:r>
            <a:r>
              <a:rPr lang="en-GB" sz="1800" i="1" dirty="0"/>
              <a:t> and </a:t>
            </a:r>
            <a:r>
              <a:rPr lang="en-GB" sz="1800" b="1" i="1" dirty="0"/>
              <a:t>Concept Drift.</a:t>
            </a: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i="1" dirty="0"/>
              <a:t>Risk-Free Upgrades:</a:t>
            </a:r>
            <a:r>
              <a:rPr lang="en-GB" sz="1800" i="1" dirty="0"/>
              <a:t> When we need to deploy a new model, we will use </a:t>
            </a:r>
            <a:r>
              <a:rPr lang="en-GB" sz="1800" b="1" i="1" dirty="0"/>
              <a:t>Shadow Testing</a:t>
            </a:r>
            <a:r>
              <a:rPr lang="en-GB" sz="1800" i="1" dirty="0"/>
              <a:t>—running the new model alongside the current one—to verify its performance on live traffic without any risk to the production system.</a:t>
            </a:r>
            <a:endParaRPr lang="en-GB" sz="1800" b="1" i="1" dirty="0"/>
          </a:p>
        </p:txBody>
      </p:sp>
    </p:spTree>
    <p:extLst>
      <p:ext uri="{BB962C8B-B14F-4D97-AF65-F5344CB8AC3E}">
        <p14:creationId xmlns:p14="http://schemas.microsoft.com/office/powerpoint/2010/main" val="3543519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842D7A-754B-7F38-533D-0B1161A07A87}"/>
              </a:ext>
            </a:extLst>
          </p:cNvPr>
          <p:cNvSpPr txBox="1"/>
          <p:nvPr/>
        </p:nvSpPr>
        <p:spPr>
          <a:xfrm>
            <a:off x="357026" y="107879"/>
            <a:ext cx="894108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150" b="1" dirty="0">
                <a:latin typeface="Poppins" panose="00000500000000000000" pitchFamily="2" charset="0"/>
                <a:cs typeface="Poppins" panose="00000500000000000000" pitchFamily="2" charset="0"/>
              </a:rPr>
              <a:t>Integrated System Architecture Diagram</a:t>
            </a:r>
            <a:r>
              <a:rPr lang="en-IN" sz="315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C1C61F-01C8-9701-FCC9-A648ED12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26" y="684960"/>
            <a:ext cx="11560996" cy="606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8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912" y="184487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912" y="2629644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912" y="3414414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912" y="419918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912" y="49839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565" name="Google Shape;565;p47"/>
          <p:cNvSpPr/>
          <p:nvPr/>
        </p:nvSpPr>
        <p:spPr>
          <a:xfrm>
            <a:off x="823912" y="2470695"/>
            <a:ext cx="10544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7"/>
          <p:cNvSpPr/>
          <p:nvPr/>
        </p:nvSpPr>
        <p:spPr>
          <a:xfrm>
            <a:off x="823912" y="3255466"/>
            <a:ext cx="10544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7"/>
          <p:cNvSpPr/>
          <p:nvPr/>
        </p:nvSpPr>
        <p:spPr>
          <a:xfrm>
            <a:off x="823912" y="4040237"/>
            <a:ext cx="10544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7"/>
          <p:cNvSpPr/>
          <p:nvPr/>
        </p:nvSpPr>
        <p:spPr>
          <a:xfrm>
            <a:off x="823912" y="4825007"/>
            <a:ext cx="10544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912" y="18448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7"/>
          <p:cNvSpPr txBox="1"/>
          <p:nvPr/>
        </p:nvSpPr>
        <p:spPr>
          <a:xfrm>
            <a:off x="1919287" y="1838325"/>
            <a:ext cx="9448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https://png.pngtree.com/thumb_back/fw800/background/20251022/pngtree-digital-shield-with-circuitry-and-data-streams-on-a-dark-blue-image_19952571.webp</a:t>
            </a:r>
            <a:endParaRPr/>
          </a:p>
        </p:txBody>
      </p:sp>
      <p:sp>
        <p:nvSpPr>
          <p:cNvPr id="571" name="Google Shape;571;p47"/>
          <p:cNvSpPr txBox="1"/>
          <p:nvPr/>
        </p:nvSpPr>
        <p:spPr>
          <a:xfrm>
            <a:off x="1919287" y="2084040"/>
            <a:ext cx="9448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id="572" name="Google Shape;572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912" y="26296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7"/>
          <p:cNvSpPr txBox="1"/>
          <p:nvPr/>
        </p:nvSpPr>
        <p:spPr>
          <a:xfrm>
            <a:off x="1919287" y="2623095"/>
            <a:ext cx="9448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https://media.istockphoto.com/id/1249714483/vector/money-insurance-concept.jpg?s=612x612&amp;w=0&amp;k=20&amp;c=EOPGuZEbp387JK-HichG4vqNu3G0l-OA1GfEsC-os8A=</a:t>
            </a:r>
            <a:endParaRPr/>
          </a:p>
        </p:txBody>
      </p:sp>
      <p:sp>
        <p:nvSpPr>
          <p:cNvPr id="574" name="Google Shape;574;p47"/>
          <p:cNvSpPr txBox="1"/>
          <p:nvPr/>
        </p:nvSpPr>
        <p:spPr>
          <a:xfrm>
            <a:off x="1919287" y="2868810"/>
            <a:ext cx="9448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id="575" name="Google Shape;575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3912" y="34144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7"/>
          <p:cNvSpPr txBox="1"/>
          <p:nvPr/>
        </p:nvSpPr>
        <p:spPr>
          <a:xfrm>
            <a:off x="1919287" y="3407866"/>
            <a:ext cx="9448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https://machinelearningmastery.com/wp-content/uploads/2018/08/ROC-Curve-Plot-for-a-No-Skill-Classifier-and-a-Logistic-Regression-Model.png</a:t>
            </a:r>
            <a:endParaRPr/>
          </a:p>
        </p:txBody>
      </p:sp>
      <p:sp>
        <p:nvSpPr>
          <p:cNvPr id="577" name="Google Shape;577;p47"/>
          <p:cNvSpPr txBox="1"/>
          <p:nvPr/>
        </p:nvSpPr>
        <p:spPr>
          <a:xfrm>
            <a:off x="1919287" y="3653581"/>
            <a:ext cx="9448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machinelearningmastery.com</a:t>
            </a:r>
            <a:endParaRPr/>
          </a:p>
        </p:txBody>
      </p:sp>
      <p:pic>
        <p:nvPicPr>
          <p:cNvPr id="578" name="Google Shape;578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3912" y="41991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7"/>
          <p:cNvSpPr txBox="1"/>
          <p:nvPr/>
        </p:nvSpPr>
        <p:spPr>
          <a:xfrm>
            <a:off x="1919287" y="4192637"/>
            <a:ext cx="9448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https://www.mdpi.com/ijfs/ijfs-13-00132/article_deploy/html/images/ijfs-13-00132-g001-550.jpg</a:t>
            </a:r>
            <a:endParaRPr/>
          </a:p>
        </p:txBody>
      </p:sp>
      <p:sp>
        <p:nvSpPr>
          <p:cNvPr id="580" name="Google Shape;580;p47"/>
          <p:cNvSpPr txBox="1"/>
          <p:nvPr/>
        </p:nvSpPr>
        <p:spPr>
          <a:xfrm>
            <a:off x="1919287" y="4438352"/>
            <a:ext cx="9448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pic>
        <p:nvPicPr>
          <p:cNvPr id="581" name="Google Shape;581;p4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3912" y="49839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7"/>
          <p:cNvSpPr txBox="1"/>
          <p:nvPr/>
        </p:nvSpPr>
        <p:spPr>
          <a:xfrm>
            <a:off x="1919287" y="4977407"/>
            <a:ext cx="94488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https://images.stockcake.com/public/8/1/e/81e1bd0c-78ac-497e-96e9-dafdaf2fc0ff_large/secure-vault-door-stockcake.jpg</a:t>
            </a:r>
            <a:endParaRPr/>
          </a:p>
        </p:txBody>
      </p:sp>
      <p:sp>
        <p:nvSpPr>
          <p:cNvPr id="583" name="Google Shape;583;p47"/>
          <p:cNvSpPr txBox="1"/>
          <p:nvPr/>
        </p:nvSpPr>
        <p:spPr>
          <a:xfrm>
            <a:off x="1919287" y="5223123"/>
            <a:ext cx="94488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6"/>
          <p:cNvSpPr txBox="1"/>
          <p:nvPr/>
        </p:nvSpPr>
        <p:spPr>
          <a:xfrm>
            <a:off x="295275" y="2242244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553" name="Google Shape;553;p46"/>
          <p:cNvSpPr txBox="1"/>
          <p:nvPr/>
        </p:nvSpPr>
        <p:spPr>
          <a:xfrm>
            <a:off x="571500" y="3594794"/>
            <a:ext cx="11049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Thank you for your attention</a:t>
            </a:r>
            <a:r>
              <a:rPr lang="en-US" sz="1650" dirty="0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2337</Words>
  <Application>Microsoft Office PowerPoint</Application>
  <PresentationFormat>Widescreen</PresentationFormat>
  <Paragraphs>446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Calibri</vt:lpstr>
      <vt:lpstr>Lato</vt:lpstr>
      <vt:lpstr>Arial</vt:lpstr>
      <vt:lpstr>Poppins</vt:lpstr>
      <vt:lpstr>Play</vt:lpstr>
      <vt:lpstr>Office Theme</vt:lpstr>
      <vt:lpstr>Financial Risk and Compliance Accelerator (AMPBA Capstone Project)t)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Engineering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Shweta Gera</dc:creator>
  <cp:lastModifiedBy>Shweta Gera</cp:lastModifiedBy>
  <cp:revision>44</cp:revision>
  <dcterms:modified xsi:type="dcterms:W3CDTF">2025-11-11T09:06:08Z</dcterms:modified>
</cp:coreProperties>
</file>